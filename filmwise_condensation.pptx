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8" r:id="rId4"/>
    <p:sldId id="259" r:id="rId5"/>
    <p:sldId id="279" r:id="rId6"/>
    <p:sldId id="260" r:id="rId7"/>
    <p:sldId id="262" r:id="rId8"/>
    <p:sldId id="278" r:id="rId9"/>
    <p:sldId id="277" r:id="rId10"/>
    <p:sldId id="264" r:id="rId11"/>
    <p:sldId id="271" r:id="rId12"/>
    <p:sldId id="266" r:id="rId13"/>
    <p:sldId id="273" r:id="rId14"/>
    <p:sldId id="280" r:id="rId15"/>
    <p:sldId id="28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6FB"/>
    <a:srgbClr val="D6EAF8"/>
    <a:srgbClr val="0C6E8A"/>
    <a:srgbClr val="00B4D8"/>
    <a:srgbClr val="FD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9DC98-B13A-4FB8-A335-8784789104D6}" v="1506" dt="2026-04-24T10:24:47.891"/>
    <p1510:client id="{55F66F16-D782-5C42-9B33-63E1DF047C90}" v="9364" dt="2026-04-24T08:54:06.027"/>
    <p1510:client id="{5D943A37-9A6A-2872-C25A-833A36963D8B}" v="506" dt="2026-04-23T11:23:52.695"/>
    <p1510:client id="{970790DE-66D4-0970-977B-54933C855286}" v="550" dt="2026-04-24T07:56:56.297"/>
    <p1510:client id="{9725AB28-1EF4-02A0-3DC3-803A653D83E4}" v="1163" dt="2026-04-23T17:46:15.049"/>
    <p1510:client id="{99132F1C-3BB0-74B6-2EB2-EF4DA6A1764C}" v="70" dt="2026-04-23T15:37:38.412"/>
    <p1510:client id="{D8508596-70C6-C161-CCFE-3067EA2DF978}" v="8" dt="2026-04-24T05:55:32.975"/>
    <p1510:client id="{F5B20EFD-4447-821F-8BCF-0326EC4BFA39}" v="548" dt="2026-04-23T19:09:54.334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34" d="100"/>
          <a:sy n="134" d="100"/>
        </p:scale>
        <p:origin x="9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71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67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8E032-7E36-5A4D-1751-850762AB6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50F16-E2EA-DE8C-A402-7BB4BF339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C13F2-3412-C55A-045A-E3B17AED5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3394E-203B-01F0-5954-ED29D43844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7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F249D-5F26-D149-CF9D-CB13AB48E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AC139-4603-1A4B-2FAC-5ABC7C435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A9A2E-B7DD-7925-CDF1-6CEDC7D32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F6864-2F0E-C00A-AE4C-7EE7CF817C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49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35C05-C4D1-77EC-00D8-23BC84546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52650-0727-2222-6C18-63363CA3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F0303-AE13-4C97-F84F-F0B579EE2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F2D69-6871-65A7-DBE0-307E5AF8B7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48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CEA63-11D5-74F8-EDFD-884D93128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7BE5B-6926-0DBD-36C1-27BDE7539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61A43-EB4C-B806-7B90-2AF6EDCFC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2BA7D-A863-DBDD-D0E8-6380C076A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067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2D212-7B33-7493-4281-5C51488A1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79E34-3A23-98D8-97A5-37E59C63D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786D88-CB01-D548-56FC-D5D408E1B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9F46A-B61E-12CA-6A70-EF8C37C8F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6198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73D9F-3CEE-5A51-B653-8B0CF54E7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04D16-DE80-0E0B-33F2-E55A461C7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919093-86F1-82F6-74BB-FB4F176DA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F8850-7993-F69C-619F-E3F6503FFE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24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3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" y="0"/>
            <a:ext cx="73152" cy="5143500"/>
          </a:xfrm>
          <a:prstGeom prst="rect">
            <a:avLst/>
          </a:prstGeom>
          <a:solidFill>
            <a:srgbClr val="0A6E8A"/>
          </a:solidFill>
          <a:ln w="12700">
            <a:solidFill>
              <a:srgbClr val="0A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19" y="5943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B4D8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ME 647 : Vapor Liquid Phase Change Phenomena</a:t>
            </a:r>
            <a:endParaRPr lang="en-US" sz="16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8138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Transient Filmwise</a:t>
            </a:r>
            <a:endParaRPr lang="en-US" sz="3800">
              <a:latin typeface="Aptos" panose="020B0004020202020204" pitchFamily="34" charset="0"/>
              <a:ea typeface="Palatino" pitchFamily="2" charset="7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Condensation &amp;</a:t>
            </a:r>
            <a:endParaRPr lang="en-US" sz="3800">
              <a:latin typeface="Aptos" panose="020B0004020202020204" pitchFamily="34" charset="0"/>
              <a:ea typeface="Palatino" pitchFamily="2" charset="7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Interfacial Shear Effects</a:t>
            </a:r>
            <a:endParaRPr lang="en-US" sz="38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3017520"/>
            <a:ext cx="82296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BDC3C7"/>
                </a:solidFill>
                <a:latin typeface="Aptos" panose="020B0004020202020204" pitchFamily="34" charset="0"/>
                <a:ea typeface="Palatino" pitchFamily="2" charset="77"/>
              </a:rPr>
              <a:t>Project Code: </a:t>
            </a:r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</a:rPr>
              <a:t>Filmwise Condensation</a:t>
            </a:r>
            <a:endParaRPr lang="en-US" sz="13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19" y="3520439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B4D8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Project Mentor:</a:t>
            </a:r>
            <a:r>
              <a:rPr lang="en-US" sz="1300" b="1">
                <a:solidFill>
                  <a:srgbClr val="00B4D8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 </a:t>
            </a:r>
            <a:r>
              <a:rPr lang="en-US" sz="1300" b="1" err="1">
                <a:solidFill>
                  <a:srgbClr val="00B4D8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Mondeep</a:t>
            </a:r>
            <a:r>
              <a:rPr lang="en-US" sz="1300" b="1">
                <a:solidFill>
                  <a:srgbClr val="00B4D8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 Gohain </a:t>
            </a:r>
            <a:endParaRPr lang="en-US" sz="1300" b="1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3304" y="4183380"/>
            <a:ext cx="2547776" cy="800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BDC3C7"/>
                </a:solidFill>
                <a:latin typeface="Aptos" panose="020B0004020202020204" pitchFamily="34" charset="0"/>
                <a:ea typeface="Palatino" pitchFamily="2" charset="77"/>
                <a:cs typeface="Calibri"/>
              </a:rPr>
              <a:t>Shrishti Mishra (22110246)</a:t>
            </a:r>
            <a:br>
              <a:rPr lang="en-US" sz="110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</a:br>
            <a:r>
              <a:rPr lang="en-US" sz="1100">
                <a:solidFill>
                  <a:srgbClr val="BDC3C7"/>
                </a:solidFill>
                <a:latin typeface="Aptos" panose="020B0004020202020204" pitchFamily="34" charset="0"/>
                <a:ea typeface="Palatino" pitchFamily="2" charset="77"/>
                <a:cs typeface="Calibri"/>
              </a:rPr>
              <a:t>Hari Balaji (22110092)</a:t>
            </a:r>
            <a:br>
              <a:rPr lang="en-US" sz="110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</a:br>
            <a:r>
              <a:rPr lang="en-US" sz="1100">
                <a:solidFill>
                  <a:srgbClr val="BDC3C7"/>
                </a:solidFill>
                <a:latin typeface="Aptos" panose="020B0004020202020204" pitchFamily="34" charset="0"/>
                <a:ea typeface="Palatino" pitchFamily="2" charset="77"/>
                <a:cs typeface="Calibri"/>
              </a:rPr>
              <a:t>Diya Mehta (22110078)</a:t>
            </a:r>
            <a:endParaRPr lang="en-US" sz="1100">
              <a:latin typeface="Aptos" panose="020B0004020202020204" pitchFamily="34" charset="0"/>
              <a:ea typeface="Palatino" pitchFamily="2" charset="77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">
            <a:extLst>
              <a:ext uri="{FF2B5EF4-FFF2-40B4-BE49-F238E27FC236}">
                <a16:creationId xmlns:a16="http://schemas.microsoft.com/office/drawing/2014/main" id="{3C156475-5F9E-EDDA-DB8F-CA6F094E3136}"/>
              </a:ext>
            </a:extLst>
          </p:cNvPr>
          <p:cNvSpPr/>
          <p:nvPr/>
        </p:nvSpPr>
        <p:spPr>
          <a:xfrm>
            <a:off x="5133315" y="749807"/>
            <a:ext cx="3690645" cy="423865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chemeClr val="bg1"/>
                </a:solidFill>
                <a:latin typeface="Aptos" panose="020B0004020202020204" pitchFamily="34" charset="0"/>
              </a:rPr>
              <a:t>Part (a) - Transient Gravity-Driven </a:t>
            </a:r>
            <a:r>
              <a:rPr lang="en-US" sz="2200" b="1" err="1">
                <a:solidFill>
                  <a:schemeClr val="bg1"/>
                </a:solidFill>
                <a:latin typeface="Aptos" panose="020B0004020202020204" pitchFamily="34" charset="0"/>
              </a:rPr>
              <a:t>Filmwise</a:t>
            </a:r>
            <a:r>
              <a:rPr lang="en-US" sz="2200" b="1">
                <a:solidFill>
                  <a:schemeClr val="bg1"/>
                </a:solidFill>
                <a:latin typeface="Aptos" panose="020B0004020202020204" pitchFamily="34" charset="0"/>
              </a:rPr>
              <a:t> Condensation</a:t>
            </a:r>
            <a:endParaRPr lang="en-US" sz="2200">
              <a:solidFill>
                <a:schemeClr val="bg1"/>
              </a:solidFill>
              <a:latin typeface="Aptos" panose="020B0004020202020204" pitchFamily="34" charset="0"/>
              <a:ea typeface="Palatino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hape 2"/>
              <p:cNvSpPr/>
              <p:nvPr/>
            </p:nvSpPr>
            <p:spPr>
              <a:xfrm>
                <a:off x="274320" y="749808"/>
                <a:ext cx="4754880" cy="4238651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BDC3C7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r>
                  <a:rPr lang="en-US" sz="1200" b="1">
                    <a:solidFill>
                      <a:srgbClr val="0A6E8A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Problem Overview</a:t>
                </a:r>
                <a:endParaRPr lang="en-US" sz="1200">
                  <a:latin typeface="Aptos" panose="020B00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>
                    <a:latin typeface="Aptos" panose="020B0004020202020204" pitchFamily="34" charset="0"/>
                  </a:rPr>
                  <a:t>Saturation pressure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𝑠𝑎𝑡</m:t>
                        </m:r>
                      </m:sub>
                    </m:sSub>
                  </m:oMath>
                </a14:m>
                <a:r>
                  <a:rPr lang="en-US" sz="1100">
                    <a:latin typeface="Aptos" panose="020B0004020202020204" pitchFamily="34" charset="0"/>
                  </a:rPr>
                  <a:t> and Saturation temperature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𝑠𝑎𝑡</m:t>
                        </m:r>
                      </m:sub>
                    </m:sSub>
                  </m:oMath>
                </a14:m>
                <a:endParaRPr lang="en-US" sz="1100">
                  <a:latin typeface="Aptos" panose="020B00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>
                    <a:latin typeface="Aptos" panose="020B0004020202020204" pitchFamily="34" charset="0"/>
                  </a:rPr>
                  <a:t>Plate dimensions: Length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i="1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US" sz="1100">
                    <a:latin typeface="Aptos" panose="020B0004020202020204" pitchFamily="34" charset="0"/>
                  </a:rPr>
                  <a:t>), Width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i="1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1100">
                    <a:latin typeface="Aptos" panose="020B0004020202020204" pitchFamily="34" charset="0"/>
                  </a:rPr>
                  <a:t>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>
                    <a:latin typeface="Aptos" panose="020B0004020202020204" pitchFamily="34" charset="0"/>
                  </a:rPr>
                  <a:t>Up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100">
                    <a:latin typeface="Aptos" panose="020B00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𝑝𝑙𝑎𝑡𝑒</m:t>
                        </m:r>
                      </m:sub>
                    </m:sSub>
                    <m:r>
                      <a:rPr lang="en-US" sz="11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𝑠𝑎𝑡</m:t>
                        </m:r>
                      </m:sub>
                    </m:sSub>
                  </m:oMath>
                </a14:m>
                <a:r>
                  <a:rPr lang="en-US" sz="1100">
                    <a:latin typeface="Aptos" panose="020B0004020202020204" pitchFamily="34" charset="0"/>
                  </a:rPr>
                  <a:t> </a:t>
                </a:r>
                <a:br>
                  <a:rPr lang="en-US" sz="1100">
                    <a:latin typeface="Aptos" panose="020B0004020202020204" pitchFamily="34" charset="0"/>
                  </a:rPr>
                </a:br>
                <a:r>
                  <a:rPr lang="en-US" sz="1100">
                    <a:latin typeface="Aptos" panose="020B0004020202020204" pitchFamily="34" charset="0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100">
                    <a:latin typeface="Aptos" panose="020B00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𝑝𝑙𝑎𝑡𝑒</m:t>
                        </m:r>
                      </m:sub>
                    </m:sSub>
                    <m:r>
                      <a:rPr lang="en-US" sz="11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𝑤𝑎𝑙𝑙</m:t>
                        </m:r>
                      </m:sub>
                    </m:sSub>
                  </m:oMath>
                </a14:m>
                <a:r>
                  <a:rPr lang="en-US" sz="1100">
                    <a:latin typeface="Aptos" panose="020B0004020202020204" pitchFamily="34" charset="0"/>
                  </a:rPr>
                  <a:t> (uniform)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>
                    <a:latin typeface="Aptos" panose="020B0004020202020204" pitchFamily="34" charset="0"/>
                  </a:rPr>
                  <a:t>Condensation begins, and a liquid film forms on the top edge and flows downward under gravity.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b="1">
                    <a:latin typeface="Aptos" panose="020B0004020202020204" pitchFamily="34" charset="0"/>
                  </a:rPr>
                  <a:t>Objective: </a:t>
                </a:r>
                <a:r>
                  <a:rPr lang="en-US" sz="1100">
                    <a:latin typeface="Aptos" panose="020B0004020202020204" pitchFamily="34" charset="0"/>
                  </a:rPr>
                  <a:t>Numerically simulate the transient development of the condensate film and evaluate </a:t>
                </a:r>
                <a:r>
                  <a:rPr lang="en-US" sz="1100" i="1">
                    <a:latin typeface="Aptos" panose="020B0004020202020204" pitchFamily="34" charset="0"/>
                  </a:rPr>
                  <a:t>local </a:t>
                </a:r>
                <a:r>
                  <a:rPr lang="en-US" sz="1100">
                    <a:latin typeface="Aptos" panose="020B0004020202020204" pitchFamily="34" charset="0"/>
                  </a:rPr>
                  <a:t>and </a:t>
                </a:r>
                <a:r>
                  <a:rPr lang="en-US" sz="1100" i="1">
                    <a:latin typeface="Aptos" panose="020B0004020202020204" pitchFamily="34" charset="0"/>
                  </a:rPr>
                  <a:t>global </a:t>
                </a:r>
                <a:r>
                  <a:rPr lang="en-US" sz="1100">
                    <a:latin typeface="Aptos" panose="020B0004020202020204" pitchFamily="34" charset="0"/>
                  </a:rPr>
                  <a:t>heat transfer characteristics.</a:t>
                </a:r>
                <a:br>
                  <a:rPr lang="en-US" sz="1100">
                    <a:latin typeface="Aptos" panose="020B0004020202020204" pitchFamily="34" charset="0"/>
                  </a:rPr>
                </a:br>
                <a:r>
                  <a:rPr lang="en-US" sz="1100">
                    <a:latin typeface="Aptos" panose="020B0004020202020204" pitchFamily="34" charset="0"/>
                  </a:rPr>
                  <a:t>The film thickness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i="1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100" i="1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100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100">
                    <a:latin typeface="Aptos" panose="020B0004020202020204" pitchFamily="34" charset="0"/>
                  </a:rPr>
                  <a:t> should be solved for using an appropriate finite difference scheme.</a:t>
                </a:r>
              </a:p>
              <a:p>
                <a:endParaRPr lang="en-US" sz="1100">
                  <a:latin typeface="Aptos" panose="020B0004020202020204" pitchFamily="34" charset="0"/>
                </a:endParaRPr>
              </a:p>
              <a:p>
                <a:r>
                  <a:rPr lang="en-US" sz="1200" b="1">
                    <a:solidFill>
                      <a:srgbClr val="0A6E8A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Assumptions</a:t>
                </a:r>
                <a:endParaRPr lang="en-US" sz="1200">
                  <a:latin typeface="Aptos" panose="020B00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100">
                    <a:latin typeface="Aptos" panose="020B0004020202020204" pitchFamily="34" charset="0"/>
                  </a:rPr>
                  <a:t>Laminar liquid film flow.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100">
                    <a:latin typeface="Aptos" panose="020B0004020202020204" pitchFamily="34" charset="0"/>
                  </a:rPr>
                  <a:t>Fluid properties are constant and evaluated at film temperature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11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𝑠𝑎𝑡</m:t>
                            </m:r>
                          </m:sub>
                        </m:sSub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m:rPr>
                        <m:lit/>
                      </m:rPr>
                      <a:rPr lang="en-US" sz="11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1100">
                  <a:latin typeface="Aptos" panose="020B00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100">
                    <a:latin typeface="Aptos" panose="020B0004020202020204" pitchFamily="34" charset="0"/>
                  </a:rPr>
                  <a:t>Inertial and convective terms in the liquid film are negligible (Nusselt assumptions).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100">
                    <a:latin typeface="Aptos" panose="020B0004020202020204" pitchFamily="34" charset="0"/>
                  </a:rPr>
                  <a:t>Heat transfer across the film is purely by conduction.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1100">
                    <a:latin typeface="Aptos" panose="020B0004020202020204" pitchFamily="34" charset="0"/>
                  </a:rPr>
                  <a:t>Vapor shear at the interface is negligible.</a:t>
                </a:r>
              </a:p>
              <a:p>
                <a:pPr marL="514350" indent="-514350">
                  <a:spcAft>
                    <a:spcPts val="120"/>
                  </a:spcAft>
                  <a:buFont typeface="+mj-lt"/>
                  <a:buAutoNum type="arabicPeriod"/>
                </a:pPr>
                <a:r>
                  <a:rPr lang="en-US" sz="1100">
                    <a:latin typeface="Aptos" panose="020B0004020202020204" pitchFamily="34" charset="0"/>
                  </a:rPr>
                  <a:t>There is a hydrostatic pressure distribution within the film.</a:t>
                </a:r>
              </a:p>
              <a:p>
                <a:pPr>
                  <a:spcAft>
                    <a:spcPts val="120"/>
                  </a:spcAft>
                </a:pPr>
                <a:r>
                  <a:rPr lang="en-US" sz="1100">
                    <a:latin typeface="Aptos" panose="020B0004020202020204" pitchFamily="34" charset="0"/>
                  </a:rPr>
                  <a:t>Liquid temperature ~ 50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1100">
                    <a:latin typeface="Aptos" panose="020B0004020202020204" pitchFamily="34" charset="0"/>
                  </a:rPr>
                  <a:t>C</a:t>
                </a:r>
              </a:p>
              <a:p>
                <a:r>
                  <a:rPr lang="en-US" sz="1100">
                    <a:latin typeface="Aptos" panose="020B0004020202020204" pitchFamily="34" charset="0"/>
                  </a:rPr>
                  <a:t>Vapor Temperature ~ 60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1100">
                    <a:latin typeface="Aptos" panose="020B0004020202020204" pitchFamily="34" charset="0"/>
                  </a:rPr>
                  <a:t>C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100">
                  <a:latin typeface="Aptos" panose="020B00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10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" name="Shap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749808"/>
                <a:ext cx="4754880" cy="42386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">
                <a:solidFill>
                  <a:srgbClr val="BDC3C7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5417F484-F5AD-119F-6CBD-DB757DC3A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359" y="782973"/>
            <a:ext cx="1720553" cy="2058541"/>
          </a:xfrm>
          <a:prstGeom prst="rect">
            <a:avLst/>
          </a:prstGeom>
          <a:ln>
            <a:solidFill>
              <a:schemeClr val="bg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A4337BF-5A7B-E012-976C-1079F0CF95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3728123"/>
                  </p:ext>
                </p:extLst>
              </p:nvPr>
            </p:nvGraphicFramePr>
            <p:xfrm>
              <a:off x="5133315" y="2860930"/>
              <a:ext cx="3690645" cy="2116519"/>
            </p:xfrm>
            <a:graphic>
              <a:graphicData uri="http://schemas.openxmlformats.org/drawingml/2006/table">
                <a:tbl>
                  <a:tblPr/>
                  <a:tblGrid>
                    <a:gridCol w="2101151">
                      <a:extLst>
                        <a:ext uri="{9D8B030D-6E8A-4147-A177-3AD203B41FA5}">
                          <a16:colId xmlns:a16="http://schemas.microsoft.com/office/drawing/2014/main" val="1857004576"/>
                        </a:ext>
                      </a:extLst>
                    </a:gridCol>
                    <a:gridCol w="1589494">
                      <a:extLst>
                        <a:ext uri="{9D8B030D-6E8A-4147-A177-3AD203B41FA5}">
                          <a16:colId xmlns:a16="http://schemas.microsoft.com/office/drawing/2014/main" val="2724314421"/>
                        </a:ext>
                      </a:extLst>
                    </a:gridCol>
                  </a:tblGrid>
                  <a:tr h="2486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>
                              <a:solidFill>
                                <a:schemeClr val="bg1"/>
                              </a:solidFill>
                              <a:latin typeface="Aptos" panose="020B0004020202020204" pitchFamily="34" charset="0"/>
                            </a:rPr>
                            <a:t>Fluid Property (Water)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>
                              <a:solidFill>
                                <a:schemeClr val="bg1"/>
                              </a:solidFill>
                              <a:latin typeface="Aptos" panose="020B0004020202020204" pitchFamily="34" charset="0"/>
                            </a:rPr>
                            <a:t>Value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983150"/>
                      </a:ext>
                    </a:extLst>
                  </a:tr>
                  <a:tr h="2348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100" b="0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>
                              <a:latin typeface="Aptos" panose="020B0004020202020204" pitchFamily="34" charset="0"/>
                            </a:rPr>
                            <a:t> (liquid</a:t>
                          </a:r>
                          <a:r>
                            <a:rPr lang="en-US" sz="1100" b="0" baseline="0">
                              <a:latin typeface="Aptos" panose="020B0004020202020204" pitchFamily="34" charset="0"/>
                            </a:rPr>
                            <a:t> density</a:t>
                          </a:r>
                          <a:r>
                            <a:rPr lang="en-US" sz="1100" b="0">
                              <a:latin typeface="Aptos" panose="020B0004020202020204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988.0 kg/m</a:t>
                          </a:r>
                          <a:r>
                            <a:rPr lang="en-US" sz="1100" baseline="30000">
                              <a:latin typeface="Aptos" panose="020B0004020202020204" pitchFamily="34" charset="0"/>
                            </a:rPr>
                            <a:t>3</a:t>
                          </a:r>
                          <a:endParaRPr lang="en-US" sz="110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9076305"/>
                      </a:ext>
                    </a:extLst>
                  </a:tr>
                  <a:tr h="2348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100" b="0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>
                              <a:latin typeface="Aptos" panose="020B0004020202020204" pitchFamily="34" charset="0"/>
                            </a:rPr>
                            <a:t> (liquid</a:t>
                          </a:r>
                          <a:r>
                            <a:rPr lang="en-US" sz="1100" b="0" baseline="0">
                              <a:latin typeface="Aptos" panose="020B0004020202020204" pitchFamily="34" charset="0"/>
                            </a:rPr>
                            <a:t> </a:t>
                          </a:r>
                          <a:r>
                            <a:rPr lang="en-US" sz="1100" b="0">
                              <a:latin typeface="Aptos" panose="020B0004020202020204" pitchFamily="34" charset="0"/>
                            </a:rPr>
                            <a:t>dynamic</a:t>
                          </a:r>
                          <a:r>
                            <a:rPr lang="en-US" sz="1100" b="0" baseline="0">
                              <a:latin typeface="Aptos" panose="020B0004020202020204" pitchFamily="34" charset="0"/>
                            </a:rPr>
                            <a:t> viscosity)</a:t>
                          </a:r>
                          <a:endParaRPr lang="en-US" sz="1100" b="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CF6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5.47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 10</a:t>
                          </a:r>
                          <a:r>
                            <a:rPr lang="en-US" sz="1100" baseline="30000">
                              <a:latin typeface="Aptos" panose="020B0004020202020204" pitchFamily="34" charset="0"/>
                            </a:rPr>
                            <a:t>-4 </a:t>
                          </a:r>
                          <a:r>
                            <a:rPr lang="en-US" sz="1100" baseline="0">
                              <a:latin typeface="Aptos" panose="020B0004020202020204" pitchFamily="34" charset="0"/>
                            </a:rPr>
                            <a:t>Pa-s</a:t>
                          </a:r>
                          <a:endParaRPr lang="en-US" sz="110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0158533"/>
                      </a:ext>
                    </a:extLst>
                  </a:tr>
                  <a:tr h="2348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1100" b="0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>
                              <a:latin typeface="Aptos" panose="020B0004020202020204" pitchFamily="34" charset="0"/>
                            </a:rPr>
                            <a:t> (thermal conductivity)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CF6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0.644 W/m-K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0259337"/>
                      </a:ext>
                    </a:extLst>
                  </a:tr>
                  <a:tr h="24651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100" b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1100" b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100" b="0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>
                              <a:latin typeface="Aptos" panose="020B0004020202020204" pitchFamily="34" charset="0"/>
                            </a:rPr>
                            <a:t> (liquid specific</a:t>
                          </a:r>
                          <a:r>
                            <a:rPr lang="en-US" sz="1100" b="0" baseline="0">
                              <a:latin typeface="Aptos" panose="020B0004020202020204" pitchFamily="34" charset="0"/>
                            </a:rPr>
                            <a:t> heat)</a:t>
                          </a:r>
                          <a:endParaRPr lang="en-US" sz="1100" b="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4181.0 J/kg-K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51436422"/>
                      </a:ext>
                    </a:extLst>
                  </a:tr>
                  <a:tr h="24910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dirty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100" b="0" dirty="0" smtClean="0">
                                      <a:latin typeface="Cambria Math" panose="02040503050406030204" pitchFamily="18" charset="0"/>
                                    </a:rPr>
                                    <m:t>fg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>
                              <a:latin typeface="Aptos" panose="020B0004020202020204" pitchFamily="34" charset="0"/>
                            </a:rPr>
                            <a:t> (latent heat)</a:t>
                          </a:r>
                          <a:endParaRPr lang="en-US" sz="1100" b="0" i="1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2382 kJ/kg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28764796"/>
                      </a:ext>
                    </a:extLst>
                  </a:tr>
                  <a:tr h="2348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100" b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>
                              <a:latin typeface="Aptos" panose="020B0004020202020204" pitchFamily="34" charset="0"/>
                            </a:rPr>
                            <a:t> (vapor</a:t>
                          </a:r>
                          <a:r>
                            <a:rPr lang="en-US" sz="1100" b="0" baseline="0">
                              <a:latin typeface="Aptos" panose="020B0004020202020204" pitchFamily="34" charset="0"/>
                            </a:rPr>
                            <a:t> density)</a:t>
                          </a:r>
                          <a:endParaRPr lang="en-US" sz="1100" b="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0.130 kg/m</a:t>
                          </a:r>
                          <a:r>
                            <a:rPr lang="en-US" sz="1100" baseline="30000">
                              <a:latin typeface="Aptos" panose="020B0004020202020204" pitchFamily="34" charset="0"/>
                            </a:rPr>
                            <a:t>3</a:t>
                          </a:r>
                          <a:endParaRPr lang="en-US" sz="110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06122437"/>
                      </a:ext>
                    </a:extLst>
                  </a:tr>
                  <a:tr h="2348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smtClean="0"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en-US" sz="1100" b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>
                              <a:latin typeface="Aptos" panose="020B0004020202020204" pitchFamily="34" charset="0"/>
                            </a:rPr>
                            <a:t> (vapor</a:t>
                          </a:r>
                          <a:r>
                            <a:rPr lang="en-US" sz="1100" b="0" baseline="0">
                              <a:latin typeface="Aptos" panose="020B0004020202020204" pitchFamily="34" charset="0"/>
                            </a:rPr>
                            <a:t> dynamic viscosity</a:t>
                          </a:r>
                          <a:r>
                            <a:rPr lang="en-US" sz="1100" b="0">
                              <a:latin typeface="Aptos" panose="020B0004020202020204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1.20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 10</a:t>
                          </a:r>
                          <a:r>
                            <a:rPr lang="en-US" sz="1100" baseline="30000">
                              <a:latin typeface="Aptos" panose="020B0004020202020204" pitchFamily="34" charset="0"/>
                            </a:rPr>
                            <a:t>-5</a:t>
                          </a:r>
                          <a:r>
                            <a:rPr lang="en-US" sz="1100" baseline="0">
                              <a:latin typeface="Aptos" panose="020B0004020202020204" pitchFamily="34" charset="0"/>
                            </a:rPr>
                            <a:t> Pa-s</a:t>
                          </a:r>
                          <a:endParaRPr lang="en-US" sz="110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063702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A4337BF-5A7B-E012-976C-1079F0CF95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3728123"/>
                  </p:ext>
                </p:extLst>
              </p:nvPr>
            </p:nvGraphicFramePr>
            <p:xfrm>
              <a:off x="5133315" y="2860930"/>
              <a:ext cx="3690645" cy="2116519"/>
            </p:xfrm>
            <a:graphic>
              <a:graphicData uri="http://schemas.openxmlformats.org/drawingml/2006/table">
                <a:tbl>
                  <a:tblPr/>
                  <a:tblGrid>
                    <a:gridCol w="2101151">
                      <a:extLst>
                        <a:ext uri="{9D8B030D-6E8A-4147-A177-3AD203B41FA5}">
                          <a16:colId xmlns:a16="http://schemas.microsoft.com/office/drawing/2014/main" val="1857004576"/>
                        </a:ext>
                      </a:extLst>
                    </a:gridCol>
                    <a:gridCol w="1589494">
                      <a:extLst>
                        <a:ext uri="{9D8B030D-6E8A-4147-A177-3AD203B41FA5}">
                          <a16:colId xmlns:a16="http://schemas.microsoft.com/office/drawing/2014/main" val="2724314421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>
                              <a:solidFill>
                                <a:schemeClr val="bg1"/>
                              </a:solidFill>
                              <a:latin typeface="Aptos" panose="020B0004020202020204" pitchFamily="34" charset="0"/>
                            </a:rPr>
                            <a:t>Fluid Property (Water)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>
                              <a:solidFill>
                                <a:schemeClr val="bg1"/>
                              </a:solidFill>
                              <a:latin typeface="Aptos" panose="020B0004020202020204" pitchFamily="34" charset="0"/>
                            </a:rPr>
                            <a:t>Value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98315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0" t="-106977" r="-75942" b="-6209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988.0 kg/m</a:t>
                          </a:r>
                          <a:r>
                            <a:rPr lang="en-US" sz="1100" baseline="30000">
                              <a:latin typeface="Aptos" panose="020B0004020202020204" pitchFamily="34" charset="0"/>
                            </a:rPr>
                            <a:t>3</a:t>
                          </a:r>
                          <a:endParaRPr lang="en-US" sz="110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90763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0" t="-211905" r="-75942" b="-53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32567" t="-211905" r="-383" b="-53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158533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0" t="-304651" r="-75942" b="-423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0.644 W/m-K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0259337"/>
                      </a:ext>
                    </a:extLst>
                  </a:tr>
                  <a:tr h="2719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0" t="-386667" r="-75942" b="-3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4181.0 J/kg-K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51436422"/>
                      </a:ext>
                    </a:extLst>
                  </a:tr>
                  <a:tr h="2748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0" t="-486667" r="-75942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2382 kJ/kg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28764796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0" t="-628571" r="-75942" b="-1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0.130 kg/m</a:t>
                          </a:r>
                          <a:r>
                            <a:rPr lang="en-US" sz="1100" baseline="30000">
                              <a:latin typeface="Aptos" panose="020B0004020202020204" pitchFamily="34" charset="0"/>
                            </a:rPr>
                            <a:t>3</a:t>
                          </a:r>
                          <a:endParaRPr lang="en-US" sz="110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06122437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0" t="-711628" r="-75942" b="-16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32567" t="-711628" r="-383" b="-16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637021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42759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Part (a) - Governing PDE for Film Thickness δ(</a:t>
            </a:r>
            <a:r>
              <a:rPr lang="en-US" sz="2200" b="1" err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z,t</a:t>
            </a:r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)</a:t>
            </a:r>
            <a:endParaRPr lang="en-US" sz="22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365760" cy="365760"/>
          </a:xfrm>
          <a:prstGeom prst="ellipse">
            <a:avLst/>
          </a:prstGeom>
          <a:solidFill>
            <a:srgbClr val="0A6E8A"/>
          </a:solidFill>
          <a:ln w="12700">
            <a:solidFill>
              <a:srgbClr val="0A6E8A"/>
            </a:solidFill>
            <a:prstDash val="solid"/>
          </a:ln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alatino" pitchFamily="2" charset="77"/>
                <a:ea typeface="Palatino" pitchFamily="2" charset="77"/>
              </a:rPr>
              <a:t>1</a:t>
            </a:r>
            <a:endParaRPr lang="en-US" sz="120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8961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Step 1: Momentum Equation → Velocity Profile</a:t>
            </a:r>
            <a:endParaRPr lang="en-US" sz="1300">
              <a:latin typeface="Aptos" panose="020B0004020202020204" pitchFamily="34" charset="0"/>
              <a:ea typeface="Palatino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411480" y="1335024"/>
                <a:ext cx="3931920" cy="13258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000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Under Nusselt assumptions (no inertia, quasi-steady), the balance of gravity and viscous forces gives a parabolic velocity profile:</a:t>
                </a:r>
              </a:p>
              <a:p>
                <a:pPr marL="0" indent="0">
                  <a:buNone/>
                </a:pPr>
                <a:endParaRPr lang="en-US" sz="1000">
                  <a:solidFill>
                    <a:srgbClr val="0D1F3C"/>
                  </a:solidFill>
                  <a:latin typeface="Palatino" pitchFamily="2" charset="77"/>
                  <a:ea typeface="Palatino" pitchFamily="2" charset="77"/>
                  <a:cs typeface="Calibri" pitchFamily="34" charset="-12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D1F3C"/>
                          </a:solidFill>
                          <a:latin typeface="Cambria Math" panose="02040503050406030204" pitchFamily="18" charset="0"/>
                          <a:ea typeface="Palatino" pitchFamily="2" charset="77"/>
                          <a:cs typeface="Calibri" pitchFamily="34" charset="-120"/>
                        </a:rPr>
                        <m:t>𝑢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𝑦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0D1F3C"/>
                          </a:solidFill>
                          <a:latin typeface="Cambria Math" panose="02040503050406030204" pitchFamily="18" charset="0"/>
                          <a:ea typeface="Palatino" pitchFamily="2" charset="77"/>
                          <a:cs typeface="Calibri" pitchFamily="34" charset="-12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𝑔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4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𝛿</m:t>
                          </m:r>
                          <m:r>
                            <a:rPr lang="en-US" sz="14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𝑦</m:t>
                          </m:r>
                          <m:r>
                            <a:rPr lang="en-US" sz="14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4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b="0" i="1" smtClean="0">
                                      <a:solidFill>
                                        <a:srgbClr val="0D1F3C"/>
                                      </a:solidFill>
                                      <a:latin typeface="Cambria Math" panose="02040503050406030204" pitchFamily="18" charset="0"/>
                                      <a:ea typeface="Palatino" pitchFamily="2" charset="77"/>
                                      <a:cs typeface="Calibri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0D1F3C"/>
                                      </a:solidFill>
                                      <a:latin typeface="Cambria Math" panose="02040503050406030204" pitchFamily="18" charset="0"/>
                                      <a:ea typeface="Palatino" pitchFamily="2" charset="77"/>
                                      <a:cs typeface="Calibri" pitchFamily="34" charset="-12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solidFill>
                                        <a:srgbClr val="0D1F3C"/>
                                      </a:solidFill>
                                      <a:latin typeface="Cambria Math" panose="02040503050406030204" pitchFamily="18" charset="0"/>
                                      <a:ea typeface="Palatino" pitchFamily="2" charset="77"/>
                                      <a:cs typeface="Calibri" pitchFamily="34" charset="-12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400" b="0">
                  <a:solidFill>
                    <a:srgbClr val="0D1F3C"/>
                  </a:solidFill>
                  <a:latin typeface="Palatino" pitchFamily="2" charset="77"/>
                  <a:ea typeface="Palatino" pitchFamily="2" charset="77"/>
                  <a:cs typeface="Calibri" pitchFamily="34" charset="-120"/>
                </a:endParaRPr>
              </a:p>
              <a:p>
                <a:pPr marL="0" indent="0" algn="ctr">
                  <a:buNone/>
                </a:pPr>
                <a:endParaRPr lang="en-US" sz="1000">
                  <a:solidFill>
                    <a:srgbClr val="0D1F3C"/>
                  </a:solidFill>
                  <a:latin typeface="Palatino" pitchFamily="2" charset="77"/>
                  <a:ea typeface="Palatino" pitchFamily="2" charset="77"/>
                  <a:cs typeface="Calibri" pitchFamily="34" charset="-120"/>
                </a:endParaRPr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335024"/>
                <a:ext cx="3931920" cy="1325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4709160" y="804672"/>
            <a:ext cx="42062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00600" y="896112"/>
            <a:ext cx="365760" cy="365760"/>
          </a:xfrm>
          <a:prstGeom prst="ellipse">
            <a:avLst/>
          </a:prstGeom>
          <a:solidFill>
            <a:srgbClr val="0A6E8A"/>
          </a:solidFill>
          <a:ln w="12700">
            <a:solidFill>
              <a:srgbClr val="0A6E8A"/>
            </a:solidFill>
            <a:prstDash val="solid"/>
          </a:ln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0600" y="896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alatino" pitchFamily="2" charset="77"/>
                <a:ea typeface="Palatino" pitchFamily="2" charset="77"/>
              </a:rPr>
              <a:t>2</a:t>
            </a:r>
            <a:endParaRPr lang="en-US" sz="120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57800" y="8961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Step 2: Integrate Continuity Across Film (Leibniz Rule)</a:t>
            </a:r>
            <a:endParaRPr lang="en-US" sz="1300">
              <a:latin typeface="Aptos" panose="020B0004020202020204" pitchFamily="34" charset="0"/>
              <a:ea typeface="Palatino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4846320" y="1335024"/>
                <a:ext cx="3931920" cy="13258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000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Integrating the continuity equation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b="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y</m:t>
                    </m:r>
                    <m:r>
                      <a:rPr lang="en-US" sz="1000" b="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=0</m:t>
                    </m:r>
                  </m:oMath>
                </a14:m>
                <a:r>
                  <a:rPr lang="en-US" sz="1000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b="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y</m:t>
                    </m:r>
                    <m:r>
                      <a:rPr lang="en-US" sz="1000" b="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=</m:t>
                    </m:r>
                    <m:r>
                      <m:rPr>
                        <m:sty m:val="p"/>
                      </m:rPr>
                      <a:rPr lang="en-US" sz="1000" b="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δ</m:t>
                    </m:r>
                  </m:oMath>
                </a14:m>
                <a:r>
                  <a:rPr lang="en-US" sz="1000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 using the Leibniz integral rule yields the mass flux derivative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0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d</m:t>
                    </m:r>
                    <m:r>
                      <m:rPr>
                        <m:sty m:val="p"/>
                      </m:rPr>
                      <a:rPr lang="en-US" sz="1000" b="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Γ</m:t>
                    </m:r>
                    <m:r>
                      <a:rPr lang="en-US" sz="1000" b="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sz="1000" b="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dz</m:t>
                    </m:r>
                  </m:oMath>
                </a14:m>
                <a:r>
                  <a:rPr lang="en-US" sz="1000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 where:</a:t>
                </a:r>
              </a:p>
              <a:p>
                <a:pPr marL="0" indent="0">
                  <a:spcAft>
                    <a:spcPts val="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rgbClr val="0D1F3C"/>
                          </a:solidFill>
                          <a:latin typeface="Cambria Math" panose="02040503050406030204" pitchFamily="18" charset="0"/>
                          <a:ea typeface="Palatino" pitchFamily="2" charset="77"/>
                          <a:cs typeface="Calibri" pitchFamily="34" charset="-120"/>
                        </a:rPr>
                        <m:t>Γ</m:t>
                      </m:r>
                      <m:r>
                        <a:rPr lang="en-US" sz="1200" b="0" i="1" smtClean="0">
                          <a:solidFill>
                            <a:srgbClr val="0D1F3C"/>
                          </a:solidFill>
                          <a:latin typeface="Cambria Math" panose="02040503050406030204" pitchFamily="18" charset="0"/>
                          <a:ea typeface="Palatino" pitchFamily="2" charset="77"/>
                          <a:cs typeface="Calibri" pitchFamily="34" charset="-12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12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𝑔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  <m:t>𝛿</m:t>
                              </m:r>
                            </m:e>
                            <m:sup>
                              <m:r>
                                <a:rPr lang="en-US" sz="12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sz="12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0">
                  <a:solidFill>
                    <a:srgbClr val="0D1F3C"/>
                  </a:solidFill>
                  <a:latin typeface="Palatino" pitchFamily="2" charset="77"/>
                  <a:ea typeface="Palatino" pitchFamily="2" charset="77"/>
                  <a:cs typeface="Calibri" pitchFamily="34" charset="-120"/>
                </a:endParaRPr>
              </a:p>
              <a:p>
                <a:pPr marL="0" indent="0" algn="ctr">
                  <a:spcAft>
                    <a:spcPts val="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Γ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𝑑𝑧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rgbClr val="0D1F3C"/>
                          </a:solidFill>
                          <a:latin typeface="Cambria Math" panose="02040503050406030204" pitchFamily="18" charset="0"/>
                          <a:ea typeface="Palatino" pitchFamily="2" charset="77"/>
                          <a:cs typeface="Calibri" pitchFamily="34" charset="-12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sz="12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𝑔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rgbClr val="0D1F3C"/>
                                  </a:solidFill>
                                  <a:latin typeface="Cambria Math" panose="02040503050406030204" pitchFamily="18" charset="0"/>
                                  <a:ea typeface="Palatino" pitchFamily="2" charset="77"/>
                                  <a:cs typeface="Calibri" pitchFamily="34" charset="-12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sz="12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𝛿</m:t>
                          </m:r>
                        </m:e>
                        <m:sup>
                          <m:r>
                            <a:rPr lang="en-US" sz="12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sz="12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𝑑</m:t>
                          </m:r>
                          <m:r>
                            <a:rPr lang="en-US" sz="12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𝛿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rgbClr val="0D1F3C"/>
                              </a:solidFill>
                              <a:latin typeface="Cambria Math" panose="02040503050406030204" pitchFamily="18" charset="0"/>
                              <a:ea typeface="Palatino" pitchFamily="2" charset="77"/>
                              <a:cs typeface="Calibri" pitchFamily="34" charset="-120"/>
                            </a:rPr>
                            <m:t>𝑑𝑧</m:t>
                          </m:r>
                        </m:den>
                      </m:f>
                    </m:oMath>
                  </m:oMathPara>
                </a14:m>
                <a:endParaRPr lang="en-US" sz="1200" b="0">
                  <a:solidFill>
                    <a:srgbClr val="0D1F3C"/>
                  </a:solidFill>
                  <a:latin typeface="Palatino" pitchFamily="2" charset="77"/>
                  <a:ea typeface="Palatino" pitchFamily="2" charset="77"/>
                  <a:cs typeface="Calibri" pitchFamily="34" charset="-120"/>
                </a:endParaRPr>
              </a:p>
              <a:p>
                <a:pPr marL="0" indent="0" algn="ctr">
                  <a:buNone/>
                </a:pPr>
                <a:endParaRPr lang="en-US" sz="1000" b="0">
                  <a:solidFill>
                    <a:srgbClr val="0D1F3C"/>
                  </a:solidFill>
                  <a:latin typeface="Palatino" pitchFamily="2" charset="77"/>
                  <a:ea typeface="Palatino" pitchFamily="2" charset="77"/>
                  <a:cs typeface="Calibri" pitchFamily="34" charset="-120"/>
                </a:endParaRPr>
              </a:p>
              <a:p>
                <a:pPr marL="0" indent="0">
                  <a:buNone/>
                </a:pPr>
                <a:br>
                  <a:rPr lang="en-US" sz="1000">
                    <a:solidFill>
                      <a:srgbClr val="0D1F3C"/>
                    </a:solidFill>
                    <a:latin typeface="Palatino" pitchFamily="2" charset="77"/>
                    <a:ea typeface="Palatino" pitchFamily="2" charset="77"/>
                    <a:cs typeface="Calibri" pitchFamily="34" charset="-120"/>
                  </a:rPr>
                </a:br>
                <a:r>
                  <a:rPr lang="en-US" sz="1000">
                    <a:solidFill>
                      <a:srgbClr val="0D1F3C"/>
                    </a:solidFill>
                    <a:latin typeface="Palatino" pitchFamily="2" charset="77"/>
                    <a:ea typeface="Palatino" pitchFamily="2" charset="77"/>
                    <a:cs typeface="Calibri" pitchFamily="34" charset="-120"/>
                  </a:rPr>
                  <a:t>																	                       and </a:t>
                </a:r>
                <a:endParaRPr lang="en-US" sz="1000">
                  <a:latin typeface="Palatino" pitchFamily="2" charset="77"/>
                  <a:ea typeface="Palatino" pitchFamily="2" charset="77"/>
                </a:endParaRPr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1335024"/>
                <a:ext cx="3931920" cy="1325880"/>
              </a:xfrm>
              <a:prstGeom prst="rect">
                <a:avLst/>
              </a:prstGeom>
              <a:blipFill>
                <a:blip r:embed="rId4"/>
                <a:stretch>
                  <a:fillRect b="-7247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274320" y="2889504"/>
            <a:ext cx="42062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2980944"/>
            <a:ext cx="365760" cy="365760"/>
          </a:xfrm>
          <a:prstGeom prst="ellipse">
            <a:avLst/>
          </a:prstGeom>
          <a:solidFill>
            <a:srgbClr val="0A6E8A"/>
          </a:solidFill>
          <a:ln w="12700">
            <a:solidFill>
              <a:srgbClr val="0A6E8A"/>
            </a:solidFill>
            <a:prstDash val="solid"/>
          </a:ln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2980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alatino" pitchFamily="2" charset="77"/>
                <a:ea typeface="Palatino" pitchFamily="2" charset="77"/>
              </a:rPr>
              <a:t>3</a:t>
            </a:r>
            <a:endParaRPr lang="en-US" sz="120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29809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Step 3: Interface Energy Balance </a:t>
            </a:r>
            <a:endParaRPr lang="en-US" sz="13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3419856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0D1F3C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Latent heat released by condensation = conductive heat flux through film (Chung 1963):</a:t>
            </a:r>
          </a:p>
          <a:p>
            <a:pPr marL="0" indent="0">
              <a:buNone/>
            </a:pPr>
            <a:endParaRPr lang="en-US" sz="1000">
              <a:solidFill>
                <a:srgbClr val="0D1F3C"/>
              </a:solidFill>
              <a:latin typeface="Palatino" pitchFamily="2" charset="77"/>
              <a:ea typeface="Palatino" pitchFamily="2" charset="77"/>
              <a:cs typeface="Calibri" pitchFamily="34" charset="-120"/>
            </a:endParaRPr>
          </a:p>
          <a:p>
            <a:pPr marL="0" indent="0">
              <a:buNone/>
            </a:pPr>
            <a:endParaRPr lang="en-US" sz="100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09160" y="2889504"/>
            <a:ext cx="42062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00600" y="2980944"/>
            <a:ext cx="365760" cy="365760"/>
          </a:xfrm>
          <a:prstGeom prst="ellipse">
            <a:avLst/>
          </a:prstGeom>
          <a:solidFill>
            <a:srgbClr val="0A6E8A"/>
          </a:solidFill>
          <a:ln w="12700">
            <a:solidFill>
              <a:srgbClr val="0A6E8A"/>
            </a:solidFill>
            <a:prstDash val="solid"/>
          </a:ln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00600" y="2980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alatino" pitchFamily="2" charset="77"/>
                <a:ea typeface="Palatino" pitchFamily="2" charset="77"/>
              </a:rPr>
              <a:t>4</a:t>
            </a:r>
            <a:endParaRPr lang="en-US" sz="1200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57800" y="29809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Step 4: Final Governing PDE</a:t>
            </a:r>
            <a:endParaRPr lang="en-US" sz="13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3366084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0D1F3C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Combining Steps 1, 2, 3, eliminating velocity and combining mass/energy: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45C838D-A9FB-67FE-5C86-18F2BA3677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10" r="11943" b="7686"/>
          <a:stretch>
            <a:fillRect/>
          </a:stretch>
        </p:blipFill>
        <p:spPr>
          <a:xfrm>
            <a:off x="473995" y="3895344"/>
            <a:ext cx="3569581" cy="84810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7A7A20C-6436-7EF5-D711-61E0CABBA5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710730"/>
            <a:ext cx="872433" cy="45485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AF0E985-8C4D-ECD6-6DCE-D58A622511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7288" y="3680200"/>
            <a:ext cx="1571206" cy="51591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DB4029E-4112-2028-893C-4F7147EEEF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6749" y="4186082"/>
            <a:ext cx="1386530" cy="51591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2" name="Text 21">
            <a:extLst>
              <a:ext uri="{FF2B5EF4-FFF2-40B4-BE49-F238E27FC236}">
                <a16:creationId xmlns:a16="http://schemas.microsoft.com/office/drawing/2014/main" id="{73A3FED2-07AA-B45A-F3D0-F4405FCC8F5A}"/>
              </a:ext>
            </a:extLst>
          </p:cNvPr>
          <p:cNvSpPr/>
          <p:nvPr/>
        </p:nvSpPr>
        <p:spPr>
          <a:xfrm>
            <a:off x="4709160" y="4264261"/>
            <a:ext cx="1992334" cy="223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000">
                <a:solidFill>
                  <a:srgbClr val="0D1F3C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Final non-linear hyperbolic PDE with stiff source term</a:t>
            </a:r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32E95D18-6E56-12FF-A1E5-DCE1973DB902}"/>
              </a:ext>
            </a:extLst>
          </p:cNvPr>
          <p:cNvSpPr/>
          <p:nvPr/>
        </p:nvSpPr>
        <p:spPr>
          <a:xfrm>
            <a:off x="7435634" y="3679406"/>
            <a:ext cx="1296886" cy="223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>
                <a:solidFill>
                  <a:srgbClr val="0D1F3C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The unsteady term gets added to the mass conservation here.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CCDB86-8241-ECB9-F3E0-94087ECBFCE9}"/>
                  </a:ext>
                </a:extLst>
              </p:cNvPr>
              <p:cNvSpPr txBox="1"/>
              <p:nvPr/>
            </p:nvSpPr>
            <p:spPr>
              <a:xfrm>
                <a:off x="6571021" y="4310537"/>
                <a:ext cx="3981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CCDB86-8241-ECB9-F3E0-94087ECBF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021" y="4310537"/>
                <a:ext cx="398106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4663440" y="1463040"/>
            <a:ext cx="4206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C7E7167-8C53-65D6-7187-AC4E69423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176" y="2926172"/>
            <a:ext cx="1370309" cy="3957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5509654-8D4D-2509-FB77-0DBE9EEE2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176" y="2420519"/>
            <a:ext cx="1835651" cy="39592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 Part (a) - Numerical Finite-Difference Scheme</a:t>
            </a:r>
            <a:endParaRPr lang="en-US" sz="22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772668"/>
            <a:ext cx="8595360" cy="594360"/>
          </a:xfrm>
          <a:prstGeom prst="rect">
            <a:avLst/>
          </a:prstGeom>
          <a:solidFill>
            <a:srgbClr val="0D1F3C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06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Spatial Discretization: Backward Difference</a:t>
            </a:r>
            <a:endParaRPr lang="en-US" sz="1300">
              <a:latin typeface="Aptos" panose="020B0004020202020204" pitchFamily="34" charset="0"/>
              <a:ea typeface="Palatino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411480" y="1883664"/>
                <a:ext cx="3977640" cy="1746504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171450" indent="-171450"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The wave speed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C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(</m:t>
                    </m:r>
                    <m:r>
                      <m:rPr>
                        <m:sty m:val="p"/>
                      </m:rP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δ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)</m:t>
                    </m:r>
                  </m:oMath>
                </a14:m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 is always non-negative, so the wave propagates in the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+</m:t>
                    </m:r>
                    <m:r>
                      <m:rPr>
                        <m:sty m:val="p"/>
                      </m:rP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z</m:t>
                    </m:r>
                  </m:oMath>
                </a14:m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 direction which is downward.</a:t>
                </a:r>
              </a:p>
              <a:p>
                <a:pPr marL="171450" indent="-171450"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An upwind scheme is thus used to maintain numerical stability and respect the flow of information.</a:t>
                </a:r>
              </a:p>
              <a:p>
                <a:pPr marL="171450" indent="-171450"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Discretized Approximation:</a:t>
                </a:r>
                <a:br>
                  <a:rPr lang="en-US" sz="1100">
                    <a:latin typeface="Aptos" panose="020B0004020202020204" pitchFamily="34" charset="0"/>
                    <a:ea typeface="Palatino" pitchFamily="2" charset="77"/>
                  </a:rPr>
                </a:br>
                <a:br>
                  <a:rPr lang="en-US" sz="1100">
                    <a:latin typeface="Aptos" panose="020B0004020202020204" pitchFamily="34" charset="0"/>
                    <a:ea typeface="Palatino" pitchFamily="2" charset="77"/>
                  </a:rPr>
                </a:br>
                <a:endParaRPr lang="en-US" sz="1100">
                  <a:latin typeface="Aptos" panose="020B0004020202020204" pitchFamily="34" charset="0"/>
                  <a:ea typeface="Palatino" pitchFamily="2" charset="77"/>
                </a:endParaRPr>
              </a:p>
              <a:p>
                <a:pPr marL="171450" indent="-171450"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The upwind direction is always backward (smaller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z</m:t>
                    </m:r>
                  </m:oMath>
                </a14:m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). This ensures that the scheme accounts for the flow from the previous grid point.</a:t>
                </a:r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883664"/>
                <a:ext cx="3977640" cy="1746504"/>
              </a:xfrm>
              <a:prstGeom prst="rect">
                <a:avLst/>
              </a:prstGeom>
              <a:blipFill>
                <a:blip r:embed="rId5"/>
                <a:stretch>
                  <a:fillRect b="-348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4800600" y="15361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Temporal Discretization and Source Term</a:t>
            </a:r>
            <a:endParaRPr lang="en-US" sz="1300">
              <a:latin typeface="Aptos" panose="020B0004020202020204" pitchFamily="34" charset="0"/>
              <a:ea typeface="Palatino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4800600" y="1883663"/>
                <a:ext cx="3977640" cy="1746505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171450" indent="-171450"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100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A hybrid implicit-explicit approach is used to handle the source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b="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S</m:t>
                    </m:r>
                    <m:r>
                      <a:rPr lang="en-US" sz="1100" b="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sz="1100" b="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δ</m:t>
                    </m:r>
                    <m:r>
                      <a:rPr lang="en-US" sz="1100" b="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)</m:t>
                    </m:r>
                  </m:oMath>
                </a14:m>
                <a:r>
                  <a:rPr lang="en-US" sz="1100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b="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cs typeface="Calibri" pitchFamily="34" charset="-120"/>
                      </a:rPr>
                      <m:t>δ</m:t>
                    </m:r>
                    <m:r>
                      <a:rPr lang="en-US" sz="1100" b="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cs typeface="Calibri" pitchFamily="34" charset="-120"/>
                      </a:rPr>
                      <m:t>→0</m:t>
                    </m:r>
                  </m:oMath>
                </a14:m>
                <a:r>
                  <a:rPr lang="en-US" sz="1100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. </a:t>
                </a:r>
              </a:p>
              <a:p>
                <a:pPr marL="171450" indent="-171450"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100" i="1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Explicit convection: </a:t>
                </a:r>
                <a:r>
                  <a:rPr lang="en-US" sz="1100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Calculated using Forward Euler</a:t>
                </a:r>
                <a:br>
                  <a:rPr lang="en-US" sz="1100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</a:br>
                <a:br>
                  <a:rPr lang="en-US" sz="1100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</a:br>
                <a:endParaRPr lang="en-US" sz="1100">
                  <a:solidFill>
                    <a:srgbClr val="0D1F3C"/>
                  </a:solidFill>
                  <a:latin typeface="Aptos" panose="020B0004020202020204" pitchFamily="34" charset="0"/>
                  <a:ea typeface="Palatino" pitchFamily="2" charset="77"/>
                  <a:cs typeface="Calibri" pitchFamily="34" charset="-120"/>
                </a:endParaRPr>
              </a:p>
              <a:p>
                <a:pPr marL="171450" indent="-171450"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100" i="1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Implicit source: </a:t>
                </a:r>
                <a:r>
                  <a:rPr lang="en-US" sz="1100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Calculated using Backward Euler (so that</a:t>
                </a:r>
                <a14:m>
                  <m:oMath xmlns:m="http://schemas.openxmlformats.org/officeDocument/2006/math">
                    <m:r>
                      <a:rPr lang="en-US" sz="1100" b="0" i="0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sz="1100" b="0" i="1" smtClean="0">
                        <a:solidFill>
                          <a:srgbClr val="0D1F3C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δ</m:t>
                    </m:r>
                  </m:oMath>
                </a14:m>
                <a:r>
                  <a:rPr lang="en-US" sz="1100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 			remains positive)</a:t>
                </a:r>
                <a:br>
                  <a:rPr lang="en-US" sz="1100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</a:br>
                <a:endParaRPr lang="en-US" sz="1100">
                  <a:solidFill>
                    <a:srgbClr val="0D1F3C"/>
                  </a:solidFill>
                  <a:latin typeface="Aptos" panose="020B0004020202020204" pitchFamily="34" charset="0"/>
                  <a:ea typeface="Palatino" pitchFamily="2" charset="77"/>
                  <a:cs typeface="Calibri" pitchFamily="34" charset="-120"/>
                </a:endParaRPr>
              </a:p>
              <a:p>
                <a:pPr marL="171450" indent="-171450"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1100">
                    <a:solidFill>
                      <a:srgbClr val="0D1F3C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We get a quadratic solution, and solve for the positive root:</a:t>
                </a:r>
              </a:p>
            </p:txBody>
          </p:sp>
        </mc:Choice>
        <mc:Fallback xmlns=""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1883663"/>
                <a:ext cx="3977640" cy="1746505"/>
              </a:xfrm>
              <a:prstGeom prst="rect">
                <a:avLst/>
              </a:prstGeom>
              <a:blipFill>
                <a:blip r:embed="rId6"/>
                <a:stretch>
                  <a:fillRect t="-34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274320" y="3858768"/>
            <a:ext cx="4206240" cy="1120638"/>
          </a:xfrm>
          <a:prstGeom prst="rect">
            <a:avLst/>
          </a:prstGeom>
          <a:solidFill>
            <a:srgbClr val="D6EAF8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3931920"/>
            <a:ext cx="40690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6E8A"/>
                </a:solidFill>
                <a:latin typeface="Aptos"/>
                <a:ea typeface="Palatino" pitchFamily="2" charset="77"/>
                <a:cs typeface="Calibri"/>
              </a:rPr>
              <a:t>Stability: Courant-Friedrichs-Lewy (CFL) Condition</a:t>
            </a:r>
            <a:endParaRPr lang="en-US" sz="1300">
              <a:latin typeface="Aptos"/>
              <a:ea typeface="Palatino" pitchFamily="2" charset="77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411480" y="4166545"/>
                <a:ext cx="3931920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050">
                    <a:latin typeface="Aptos" panose="020B0004020202020204" pitchFamily="34" charset="0"/>
                    <a:ea typeface="Palatino" pitchFamily="2" charset="77"/>
                  </a:rPr>
                  <a:t>Time step limited based on max. wave speed and grid size.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50" b="0" i="0" smtClean="0">
                        <a:latin typeface="Cambria Math" panose="02040503050406030204" pitchFamily="18" charset="0"/>
                        <a:ea typeface="Palatino" pitchFamily="2" charset="77"/>
                      </a:rPr>
                      <m:t>Δ</m:t>
                    </m:r>
                    <m: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𝑡</m:t>
                    </m:r>
                    <m: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≤</m:t>
                    </m:r>
                    <m:f>
                      <m:fPr>
                        <m:ctrlPr>
                          <a:rPr lang="en-US" sz="1050" b="0" i="1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050" b="0" i="0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  <m:t>Δ</m:t>
                        </m:r>
                        <m:r>
                          <a:rPr lang="en-US" sz="1050" b="0" i="1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  <m:t>𝑧</m:t>
                        </m:r>
                      </m:num>
                      <m:den>
                        <m:r>
                          <a:rPr lang="en-US" sz="1050" b="0" i="1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  <m:t>𝑚𝑎𝑥</m:t>
                        </m:r>
                        <m:d>
                          <m:dPr>
                            <m:ctrlPr>
                              <a:rPr lang="en-US" sz="1050" b="0" i="1" smtClean="0">
                                <a:latin typeface="Cambria Math" panose="02040503050406030204" pitchFamily="18" charset="0"/>
                                <a:ea typeface="Palatino" pitchFamily="2" charset="77"/>
                              </a:rPr>
                            </m:ctrlPr>
                          </m:dPr>
                          <m:e>
                            <m:r>
                              <a:rPr lang="en-US" sz="1050" b="0" i="1" smtClean="0">
                                <a:latin typeface="Cambria Math" panose="02040503050406030204" pitchFamily="18" charset="0"/>
                                <a:ea typeface="Palatino" pitchFamily="2" charset="77"/>
                              </a:rPr>
                              <m:t>𝐶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1050" b="0">
                    <a:latin typeface="Aptos" panose="020B0004020202020204" pitchFamily="34" charset="0"/>
                    <a:ea typeface="Palatino" pitchFamily="2" charset="77"/>
                  </a:rPr>
                  <a:t>, and we implemented it as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050" b="0" i="0" smtClean="0">
                        <a:latin typeface="Cambria Math" panose="02040503050406030204" pitchFamily="18" charset="0"/>
                        <a:ea typeface="Palatino" pitchFamily="2" charset="77"/>
                      </a:rPr>
                      <m:t>CFL</m:t>
                    </m:r>
                    <m: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=</m:t>
                    </m:r>
                    <m:f>
                      <m:fPr>
                        <m:ctrlPr>
                          <a:rPr lang="en-US" sz="1050" b="0" i="1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</m:ctrlPr>
                      </m:fPr>
                      <m:num>
                        <m:r>
                          <a:rPr lang="en-US" sz="1050" b="0" i="1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  <m:t>𝐶</m:t>
                        </m:r>
                        <m:r>
                          <a:rPr lang="en-US" sz="1050" b="0" i="1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1050" b="0" i="0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  <m:t>Δ</m:t>
                        </m:r>
                        <m:r>
                          <a:rPr lang="en-US" sz="1050" b="0" i="1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1050" b="0" i="0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  <m:t>Δ</m:t>
                        </m:r>
                        <m:r>
                          <a:rPr lang="en-US" sz="1050" b="0" i="1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  <m:t>𝑧</m:t>
                        </m:r>
                      </m:den>
                    </m:f>
                    <m: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≤1.0</m:t>
                    </m:r>
                  </m:oMath>
                </a14:m>
                <a:endParaRPr lang="en-US" sz="1050" b="0">
                  <a:latin typeface="Aptos" panose="020B0004020202020204" pitchFamily="34" charset="0"/>
                  <a:ea typeface="Palatino" pitchFamily="2" charset="77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050" b="0" i="0" smtClean="0">
                        <a:latin typeface="Cambria Math" panose="02040503050406030204" pitchFamily="18" charset="0"/>
                        <a:ea typeface="Palatino" pitchFamily="2" charset="77"/>
                      </a:rPr>
                      <m:t>CFL</m:t>
                    </m:r>
                    <m: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=0.45</m:t>
                    </m:r>
                  </m:oMath>
                </a14:m>
                <a:r>
                  <a:rPr lang="en-US" sz="1050">
                    <a:latin typeface="Aptos" panose="020B0004020202020204" pitchFamily="34" charset="0"/>
                    <a:ea typeface="Palatino" pitchFamily="2" charset="77"/>
                  </a:rPr>
                  <a:t> was used as a conservative value to maintain stability.</a:t>
                </a:r>
                <a:endParaRPr lang="en-US" sz="1050" b="0">
                  <a:latin typeface="Aptos" panose="020B0004020202020204" pitchFamily="34" charset="0"/>
                  <a:ea typeface="Palatino" pitchFamily="2" charset="77"/>
                </a:endParaRPr>
              </a:p>
              <a:p>
                <a:pPr marL="0" indent="0">
                  <a:buNone/>
                </a:pPr>
                <a:endParaRPr lang="en-US" sz="1050">
                  <a:latin typeface="Aptos" panose="020B0004020202020204" pitchFamily="34" charset="0"/>
                  <a:ea typeface="Palatino" pitchFamily="2" charset="77"/>
                </a:endParaRPr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166545"/>
                <a:ext cx="3931920" cy="594360"/>
              </a:xfrm>
              <a:prstGeom prst="rect">
                <a:avLst/>
              </a:prstGeom>
              <a:blipFill>
                <a:blip r:embed="rId7"/>
                <a:stretch>
                  <a:fillRect b="-1734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4663440" y="3858768"/>
            <a:ext cx="4206240" cy="1120638"/>
          </a:xfrm>
          <a:prstGeom prst="rect">
            <a:avLst/>
          </a:prstGeom>
          <a:solidFill>
            <a:srgbClr val="D6EAF8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3931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Initial &amp; Boundary Conditions</a:t>
            </a:r>
            <a:endParaRPr lang="en-US" sz="1300">
              <a:latin typeface="Aptos" panose="020B0004020202020204" pitchFamily="34" charset="0"/>
              <a:ea typeface="Palatino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4800600" y="4166545"/>
                <a:ext cx="3931920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050">
                    <a:latin typeface="Aptos" panose="020B0004020202020204" pitchFamily="34" charset="0"/>
                    <a:ea typeface="Palatino" pitchFamily="2" charset="77"/>
                  </a:rPr>
                  <a:t>BC: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δ</m:t>
                    </m:r>
                    <m: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(0,</m:t>
                    </m:r>
                    <m:r>
                      <m:rPr>
                        <m:sty m:val="p"/>
                      </m:rP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t</m:t>
                    </m:r>
                    <m: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)=0</m:t>
                    </m:r>
                  </m:oMath>
                </a14:m>
                <a:r>
                  <a:rPr lang="en-US" sz="1050">
                    <a:latin typeface="Aptos" panose="020B0004020202020204" pitchFamily="34" charset="0"/>
                    <a:ea typeface="Palatino" pitchFamily="2" charset="77"/>
                  </a:rPr>
                  <a:t>, Film starts at the leading edge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z</m:t>
                    </m:r>
                    <m: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=0</m:t>
                    </m:r>
                  </m:oMath>
                </a14:m>
                <a:r>
                  <a:rPr lang="en-US" sz="1050">
                    <a:latin typeface="Aptos" panose="020B0004020202020204" pitchFamily="34" charset="0"/>
                    <a:ea typeface="Palatino" pitchFamily="2" charset="77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050">
                    <a:latin typeface="Aptos" panose="020B0004020202020204" pitchFamily="34" charset="0"/>
                    <a:ea typeface="Palatino" pitchFamily="2" charset="77"/>
                  </a:rPr>
                  <a:t>IC: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δ</m:t>
                    </m:r>
                    <m: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(</m:t>
                    </m:r>
                    <m:r>
                      <m:rPr>
                        <m:sty m:val="p"/>
                      </m:rP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z</m:t>
                    </m:r>
                    <m: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,0)≈0</m:t>
                    </m:r>
                  </m:oMath>
                </a14:m>
                <a:r>
                  <a:rPr lang="en-US" sz="1050">
                    <a:latin typeface="Aptos" panose="020B0004020202020204" pitchFamily="34" charset="0"/>
                    <a:ea typeface="Palatino" pitchFamily="2" charset="77"/>
                  </a:rPr>
                  <a:t>, The plate is dry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t</m:t>
                    </m:r>
                    <m:r>
                      <a:rPr lang="en-US" sz="105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=0</m:t>
                    </m:r>
                  </m:oMath>
                </a14:m>
                <a:r>
                  <a:rPr lang="en-US" sz="1050">
                    <a:latin typeface="Aptos" panose="020B0004020202020204" pitchFamily="34" charset="0"/>
                    <a:ea typeface="Palatino" pitchFamily="2" charset="77"/>
                  </a:rPr>
                  <a:t> </a:t>
                </a:r>
              </a:p>
            </p:txBody>
          </p:sp>
        </mc:Choice>
        <mc:Fallback xmlns=""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4166545"/>
                <a:ext cx="3931920" cy="5943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3">
                <a:extLst>
                  <a:ext uri="{FF2B5EF4-FFF2-40B4-BE49-F238E27FC236}">
                    <a16:creationId xmlns:a16="http://schemas.microsoft.com/office/drawing/2014/main" id="{54071A98-B757-9882-56BD-2CAC866DEF71}"/>
                  </a:ext>
                </a:extLst>
              </p:cNvPr>
              <p:cNvSpPr/>
              <p:nvPr/>
            </p:nvSpPr>
            <p:spPr>
              <a:xfrm>
                <a:off x="620051" y="973836"/>
                <a:ext cx="7721017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400">
                    <a:solidFill>
                      <a:srgbClr val="00B4D8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PDE: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</m:ctrlPr>
                      </m:fPr>
                      <m:num>
                        <m: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  <m:t>𝝏𝜹</m:t>
                        </m:r>
                      </m:num>
                      <m:den>
                        <m: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  <m:t>𝝏</m:t>
                        </m:r>
                        <m: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  <m:t>𝒕</m:t>
                        </m:r>
                      </m:den>
                    </m:f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+</m:t>
                    </m:r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𝑪</m:t>
                    </m:r>
                    <m:d>
                      <m:dPr>
                        <m:ctrlP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  <m:t>𝜹</m:t>
                        </m:r>
                      </m:e>
                    </m:d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⋅</m:t>
                    </m:r>
                    <m:f>
                      <m:fPr>
                        <m:ctrlP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</m:ctrlPr>
                      </m:fPr>
                      <m:num>
                        <m:r>
                          <a:rPr lang="en-US" sz="1400" b="1" i="1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  <m:t>𝜕</m:t>
                        </m:r>
                        <m:r>
                          <a:rPr lang="en-US" sz="1400" b="1" i="1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  <m:t>𝜹</m:t>
                        </m:r>
                      </m:num>
                      <m:den>
                        <m: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  <m:t>𝝏</m:t>
                        </m:r>
                        <m: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  <m:t>𝒛</m:t>
                        </m:r>
                      </m:den>
                    </m:f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=</m:t>
                    </m:r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𝑺</m:t>
                    </m:r>
                    <m:d>
                      <m:dPr>
                        <m:ctrlP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  <m:t>𝜹</m:t>
                        </m:r>
                      </m:e>
                    </m:d>
                  </m:oMath>
                </a14:m>
                <a:r>
                  <a:rPr lang="en-US" sz="1400" b="1">
                    <a:solidFill>
                      <a:srgbClr val="00B4D8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𝑪</m:t>
                    </m:r>
                    <m:d>
                      <m:dPr>
                        <m:ctrlP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  <m:t>𝜹</m:t>
                        </m:r>
                      </m:e>
                    </m:d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=</m:t>
                    </m:r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𝒈</m:t>
                    </m:r>
                    <m:sSup>
                      <m:sSupPr>
                        <m:ctrlP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</m:ctrlPr>
                      </m:sSupPr>
                      <m:e>
                        <m: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  <m:t>𝜹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lit/>
                      </m:rP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/</m:t>
                    </m:r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𝝂</m:t>
                    </m:r>
                  </m:oMath>
                </a14:m>
                <a:r>
                  <a:rPr lang="en-US" sz="1400" b="1">
                    <a:solidFill>
                      <a:srgbClr val="00B4D8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 </a:t>
                </a:r>
                <a:r>
                  <a:rPr lang="en-US" sz="1400">
                    <a:solidFill>
                      <a:srgbClr val="00B4D8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(wave speed)	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𝑺</m:t>
                    </m:r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(</m:t>
                    </m:r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𝜹</m:t>
                    </m:r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)=</m:t>
                    </m:r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𝜶</m:t>
                    </m:r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/</m:t>
                    </m:r>
                    <m:r>
                      <a:rPr lang="en-US" sz="1400" b="1" i="1" smtClean="0">
                        <a:solidFill>
                          <a:srgbClr val="00B4D8"/>
                        </a:solidFill>
                        <a:latin typeface="Cambria Math" panose="02040503050406030204" pitchFamily="18" charset="0"/>
                        <a:ea typeface="Palatino" pitchFamily="2" charset="77"/>
                        <a:cs typeface="Calibri" pitchFamily="34" charset="-120"/>
                      </a:rPr>
                      <m:t>𝜹</m:t>
                    </m:r>
                  </m:oMath>
                </a14:m>
                <a:r>
                  <a:rPr lang="en-US" sz="1400" b="1">
                    <a:solidFill>
                      <a:srgbClr val="00B4D8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 </a:t>
                </a:r>
                <a:r>
                  <a:rPr lang="en-US" sz="1400">
                    <a:solidFill>
                      <a:srgbClr val="00B4D8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(source term) </a:t>
                </a:r>
                <a:r>
                  <a:rPr lang="en-US" sz="1400" b="1">
                    <a:solidFill>
                      <a:srgbClr val="00B4D8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		</a:t>
                </a:r>
              </a:p>
            </p:txBody>
          </p:sp>
        </mc:Choice>
        <mc:Fallback xmlns="">
          <p:sp>
            <p:nvSpPr>
              <p:cNvPr id="19" name="Text 3">
                <a:extLst>
                  <a:ext uri="{FF2B5EF4-FFF2-40B4-BE49-F238E27FC236}">
                    <a16:creationId xmlns:a16="http://schemas.microsoft.com/office/drawing/2014/main" id="{54071A98-B757-9882-56BD-2CAC866DEF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51" y="973836"/>
                <a:ext cx="7721017" cy="411480"/>
              </a:xfrm>
              <a:prstGeom prst="rect">
                <a:avLst/>
              </a:prstGeom>
              <a:blipFill>
                <a:blip r:embed="rId9"/>
                <a:stretch>
                  <a:fillRect t="-134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17C4DAE1-0AEF-9D6D-B3B4-E816034F30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3609" y="2603128"/>
            <a:ext cx="1037155" cy="42663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AE3E74D-FD9F-9252-2408-384978B5629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60675"/>
          <a:stretch>
            <a:fillRect/>
          </a:stretch>
        </p:blipFill>
        <p:spPr>
          <a:xfrm>
            <a:off x="5044175" y="3421151"/>
            <a:ext cx="1835651" cy="1998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2">
            <a:extLst>
              <a:ext uri="{FF2B5EF4-FFF2-40B4-BE49-F238E27FC236}">
                <a16:creationId xmlns:a16="http://schemas.microsoft.com/office/drawing/2014/main" id="{BDA17AA6-131C-05B3-0B85-0E6C21118D1E}"/>
              </a:ext>
            </a:extLst>
          </p:cNvPr>
          <p:cNvSpPr/>
          <p:nvPr/>
        </p:nvSpPr>
        <p:spPr>
          <a:xfrm>
            <a:off x="4843387" y="861220"/>
            <a:ext cx="4117733" cy="3823295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b="1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17BEF7FD-8082-B117-3E89-904DEFE9AF46}"/>
              </a:ext>
            </a:extLst>
          </p:cNvPr>
          <p:cNvSpPr/>
          <p:nvPr/>
        </p:nvSpPr>
        <p:spPr>
          <a:xfrm>
            <a:off x="141821" y="861220"/>
            <a:ext cx="4473497" cy="1715279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7" name="Table 66">
                <a:extLst>
                  <a:ext uri="{FF2B5EF4-FFF2-40B4-BE49-F238E27FC236}">
                    <a16:creationId xmlns:a16="http://schemas.microsoft.com/office/drawing/2014/main" id="{523BED2B-68F3-FBD0-D85C-1B1BB78A53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946278"/>
                  </p:ext>
                </p:extLst>
              </p:nvPr>
            </p:nvGraphicFramePr>
            <p:xfrm>
              <a:off x="4951692" y="1264288"/>
              <a:ext cx="3899700" cy="2942724"/>
            </p:xfrm>
            <a:graphic>
              <a:graphicData uri="http://schemas.openxmlformats.org/drawingml/2006/table">
                <a:tbl>
                  <a:tblPr/>
                  <a:tblGrid>
                    <a:gridCol w="1299900">
                      <a:extLst>
                        <a:ext uri="{9D8B030D-6E8A-4147-A177-3AD203B41FA5}">
                          <a16:colId xmlns:a16="http://schemas.microsoft.com/office/drawing/2014/main" val="2570280441"/>
                        </a:ext>
                      </a:extLst>
                    </a:gridCol>
                    <a:gridCol w="1299900">
                      <a:extLst>
                        <a:ext uri="{9D8B030D-6E8A-4147-A177-3AD203B41FA5}">
                          <a16:colId xmlns:a16="http://schemas.microsoft.com/office/drawing/2014/main" val="1336572913"/>
                        </a:ext>
                      </a:extLst>
                    </a:gridCol>
                    <a:gridCol w="1299900">
                      <a:extLst>
                        <a:ext uri="{9D8B030D-6E8A-4147-A177-3AD203B41FA5}">
                          <a16:colId xmlns:a16="http://schemas.microsoft.com/office/drawing/2014/main" val="1044369972"/>
                        </a:ext>
                      </a:extLst>
                    </a:gridCol>
                  </a:tblGrid>
                  <a:tr h="324143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solidFill>
                                <a:schemeClr val="bg1"/>
                              </a:solidFill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Parameter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solidFill>
                                <a:schemeClr val="bg1"/>
                              </a:solidFill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Effect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solidFill>
                                <a:schemeClr val="bg1"/>
                              </a:solidFill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Expression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8887695"/>
                      </a:ext>
                    </a:extLst>
                  </a:tr>
                  <a:tr h="7097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Arial" pitchFamily="34" charset="-122"/>
                              <a:cs typeface="Arial" pitchFamily="34" charset="-120"/>
                            </a:rPr>
                            <a:t>Film thickness</a:t>
                          </a:r>
                          <a:endParaRPr lang="en-US" sz="110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Arial" pitchFamily="34" charset="-122"/>
                              <a:cs typeface="Arial"/>
                            </a:rPr>
                            <a:t>Grows as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/>
                                    </a:rPr>
                                    <m:t>1</m:t>
                                  </m:r>
                                  <m:r>
                                    <m:rPr>
                                      <m:lit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/>
                                    </a:rPr>
                                    <m:t>/</m:t>
                                  </m:r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  <a:ea typeface="Arial" pitchFamily="34" charset="-122"/>
                                      <a:cs typeface="Arial"/>
                                    </a:rPr>
                                    <m:t>4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100">
                              <a:latin typeface="Aptos" panose="020B0004020202020204" pitchFamily="34" charset="0"/>
                              <a:ea typeface="Arial" pitchFamily="34" charset="-122"/>
                              <a:cs typeface="Arial"/>
                            </a:rPr>
                            <a:t>, thicker toward bottom</a:t>
                          </a:r>
                          <a:endParaRPr lang="en-US" sz="1100">
                            <a:latin typeface="Aptos" panose="020B0004020202020204" pitchFamily="34" charset="0"/>
                            <a:ea typeface="Calibri"/>
                            <a:cs typeface="Arial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0189288"/>
                      </a:ext>
                    </a:extLst>
                  </a:tr>
                  <a:tr h="70231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Arial" pitchFamily="34" charset="-122"/>
                              <a:cs typeface="Arial" pitchFamily="34" charset="-120"/>
                            </a:rPr>
                            <a:t>Local HTC</a:t>
                          </a:r>
                          <a:endParaRPr lang="en-US" sz="110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CF6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Arial" pitchFamily="34" charset="-122"/>
                              <a:cs typeface="Arial"/>
                            </a:rPr>
                            <a:t>Highest at top where film is thinnest</a:t>
                          </a:r>
                          <a:endParaRPr lang="en-US" sz="1100">
                            <a:latin typeface="Aptos" panose="020B0004020202020204" pitchFamily="34" charset="0"/>
                            <a:ea typeface="Calibri"/>
                            <a:cs typeface="Arial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CF6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55773008"/>
                      </a:ext>
                    </a:extLst>
                  </a:tr>
                  <a:tr h="5042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Arial" pitchFamily="34" charset="-122"/>
                              <a:cs typeface="Arial" pitchFamily="34" charset="-120"/>
                            </a:rPr>
                            <a:t>Mean HTC</a:t>
                          </a:r>
                          <a:endParaRPr lang="en-US" sz="110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Arial" pitchFamily="34" charset="-122"/>
                              <a:cs typeface="Arial"/>
                            </a:rPr>
                            <a:t>Average over full plate length</a:t>
                          </a:r>
                          <a:endParaRPr lang="en-US" sz="1100">
                            <a:latin typeface="Aptos" panose="020B0004020202020204" pitchFamily="34" charset="0"/>
                            <a:ea typeface="Calibri"/>
                            <a:cs typeface="Arial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6108485"/>
                      </a:ext>
                    </a:extLst>
                  </a:tr>
                  <a:tr h="70231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latin typeface="Aptos"/>
                              <a:ea typeface="Arial" pitchFamily="34" charset="-122"/>
                              <a:cs typeface="Arial"/>
                            </a:rPr>
                            <a:t>α (condensation)</a:t>
                          </a:r>
                        </a:p>
                        <a:p>
                          <a:pPr marL="0" marR="0" lvl="0" indent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:endParaRPr lang="en-US" sz="1100">
                            <a:latin typeface="Aptos"/>
                            <a:ea typeface="Calibri"/>
                            <a:cs typeface="Arial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Arial" pitchFamily="34" charset="-122"/>
                              <a:cs typeface="Arial"/>
                            </a:rPr>
                            <a:t>Thermal-to-latent heat ratio</a:t>
                          </a:r>
                          <a:endParaRPr lang="en-US" sz="1100">
                            <a:latin typeface="Aptos" panose="020B0004020202020204" pitchFamily="34" charset="0"/>
                            <a:ea typeface="Calibri"/>
                            <a:cs typeface="Arial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24301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7" name="Table 66">
                <a:extLst>
                  <a:ext uri="{FF2B5EF4-FFF2-40B4-BE49-F238E27FC236}">
                    <a16:creationId xmlns:a16="http://schemas.microsoft.com/office/drawing/2014/main" id="{523BED2B-68F3-FBD0-D85C-1B1BB78A53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946278"/>
                  </p:ext>
                </p:extLst>
              </p:nvPr>
            </p:nvGraphicFramePr>
            <p:xfrm>
              <a:off x="4951692" y="1264288"/>
              <a:ext cx="3899700" cy="2942724"/>
            </p:xfrm>
            <a:graphic>
              <a:graphicData uri="http://schemas.openxmlformats.org/drawingml/2006/table">
                <a:tbl>
                  <a:tblPr/>
                  <a:tblGrid>
                    <a:gridCol w="1299900">
                      <a:extLst>
                        <a:ext uri="{9D8B030D-6E8A-4147-A177-3AD203B41FA5}">
                          <a16:colId xmlns:a16="http://schemas.microsoft.com/office/drawing/2014/main" val="2570280441"/>
                        </a:ext>
                      </a:extLst>
                    </a:gridCol>
                    <a:gridCol w="1299900">
                      <a:extLst>
                        <a:ext uri="{9D8B030D-6E8A-4147-A177-3AD203B41FA5}">
                          <a16:colId xmlns:a16="http://schemas.microsoft.com/office/drawing/2014/main" val="1336572913"/>
                        </a:ext>
                      </a:extLst>
                    </a:gridCol>
                    <a:gridCol w="1299900">
                      <a:extLst>
                        <a:ext uri="{9D8B030D-6E8A-4147-A177-3AD203B41FA5}">
                          <a16:colId xmlns:a16="http://schemas.microsoft.com/office/drawing/2014/main" val="1044369972"/>
                        </a:ext>
                      </a:extLst>
                    </a:gridCol>
                  </a:tblGrid>
                  <a:tr h="324143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solidFill>
                                <a:schemeClr val="bg1"/>
                              </a:solidFill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Parameter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solidFill>
                                <a:schemeClr val="bg1"/>
                              </a:solidFill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Effect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solidFill>
                                <a:schemeClr val="bg1"/>
                              </a:solidFill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Expression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8887695"/>
                      </a:ext>
                    </a:extLst>
                  </a:tr>
                  <a:tr h="7097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Arial" pitchFamily="34" charset="-122"/>
                              <a:cs typeface="Arial" pitchFamily="34" charset="-120"/>
                            </a:rPr>
                            <a:t>Film thickness</a:t>
                          </a:r>
                          <a:endParaRPr lang="en-US" sz="110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46154" r="-100467" b="-26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0189288"/>
                      </a:ext>
                    </a:extLst>
                  </a:tr>
                  <a:tr h="70231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Arial" pitchFamily="34" charset="-122"/>
                              <a:cs typeface="Arial" pitchFamily="34" charset="-120"/>
                            </a:rPr>
                            <a:t>Local HTC</a:t>
                          </a:r>
                          <a:endParaRPr lang="en-US" sz="110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CF6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Arial" pitchFamily="34" charset="-122"/>
                              <a:cs typeface="Arial"/>
                            </a:rPr>
                            <a:t>Highest at top where film is thinnest</a:t>
                          </a:r>
                          <a:endParaRPr lang="en-US" sz="1100">
                            <a:latin typeface="Aptos" panose="020B0004020202020204" pitchFamily="34" charset="0"/>
                            <a:ea typeface="Calibri"/>
                            <a:cs typeface="Arial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CF6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55773008"/>
                      </a:ext>
                    </a:extLst>
                  </a:tr>
                  <a:tr h="5042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Arial" pitchFamily="34" charset="-122"/>
                              <a:cs typeface="Arial" pitchFamily="34" charset="-120"/>
                            </a:rPr>
                            <a:t>Mean HTC</a:t>
                          </a:r>
                          <a:endParaRPr lang="en-US" sz="110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Arial" pitchFamily="34" charset="-122"/>
                              <a:cs typeface="Arial"/>
                            </a:rPr>
                            <a:t>Average over full plate length</a:t>
                          </a:r>
                          <a:endParaRPr lang="en-US" sz="1100">
                            <a:latin typeface="Aptos" panose="020B0004020202020204" pitchFamily="34" charset="0"/>
                            <a:ea typeface="Calibri"/>
                            <a:cs typeface="Arial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6108485"/>
                      </a:ext>
                    </a:extLst>
                  </a:tr>
                  <a:tr h="70231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latin typeface="Aptos"/>
                              <a:ea typeface="Arial" pitchFamily="34" charset="-122"/>
                              <a:cs typeface="Arial"/>
                            </a:rPr>
                            <a:t>α (condensation)</a:t>
                          </a:r>
                        </a:p>
                        <a:p>
                          <a:pPr marL="0" marR="0" lvl="0" indent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</a:pPr>
                          <a:endParaRPr lang="en-US" sz="1100">
                            <a:latin typeface="Aptos"/>
                            <a:ea typeface="Calibri"/>
                            <a:cs typeface="Arial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Arial" pitchFamily="34" charset="-122"/>
                              <a:cs typeface="Arial"/>
                            </a:rPr>
                            <a:t>Thermal-to-latent heat ratio</a:t>
                          </a:r>
                          <a:endParaRPr lang="en-US" sz="1100">
                            <a:latin typeface="Aptos" panose="020B0004020202020204" pitchFamily="34" charset="0"/>
                            <a:ea typeface="Calibri"/>
                            <a:cs typeface="Arial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243011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Shape 2">
            <a:extLst>
              <a:ext uri="{FF2B5EF4-FFF2-40B4-BE49-F238E27FC236}">
                <a16:creationId xmlns:a16="http://schemas.microsoft.com/office/drawing/2014/main" id="{D428D5B9-C4FF-5905-C22C-CAD6CF1CE93C}"/>
              </a:ext>
            </a:extLst>
          </p:cNvPr>
          <p:cNvSpPr/>
          <p:nvPr/>
        </p:nvSpPr>
        <p:spPr>
          <a:xfrm>
            <a:off x="141821" y="2688979"/>
            <a:ext cx="4486435" cy="1995536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98864" cy="74980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Part (a) - Nusselt Analytical Solution - Validation Baseline</a:t>
            </a:r>
            <a:endParaRPr lang="en-US" sz="2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292608" y="952776"/>
            <a:ext cx="3852225" cy="35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latin typeface="Aptos" panose="020B0004020202020204" pitchFamily="34" charset="0"/>
                <a:ea typeface="Arial" pitchFamily="34" charset="-122"/>
                <a:cs typeface="Arial"/>
              </a:rPr>
              <a:t>Classical steady-state theory against which our numerical model validated</a:t>
            </a:r>
            <a:endParaRPr lang="en-US" sz="1200">
              <a:latin typeface="Aptos" panose="020B0004020202020204" pitchFamily="34" charset="0"/>
              <a:ea typeface="Calibri"/>
              <a:cs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292608" y="1434457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C6E8A"/>
                </a:solidFill>
                <a:latin typeface="Aptos" panose="020B0004020202020204" pitchFamily="34" charset="0"/>
                <a:ea typeface="Arial" pitchFamily="34" charset="-122"/>
                <a:cs typeface="Arial"/>
              </a:rPr>
              <a:t>What is the Nusselt Solution?</a:t>
            </a:r>
            <a:endParaRPr lang="en-US" sz="1400">
              <a:solidFill>
                <a:srgbClr val="0C6E8A"/>
              </a:solidFill>
              <a:latin typeface="Aptos" panose="020B0004020202020204" pitchFamily="34" charset="0"/>
              <a:ea typeface="Calibri"/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292608" y="1692775"/>
            <a:ext cx="421841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latin typeface="Aptos"/>
                <a:ea typeface="Arial" pitchFamily="34" charset="-122"/>
                <a:cs typeface="Arial"/>
              </a:rPr>
              <a:t>The Nusselt condensation theory gives a closed-form steady-state solution for a laminar liquid film on an isothermal vertical plate, assuming pure gravity drainage, conduction-only heat transfer, and negligible vapor shear.</a:t>
            </a:r>
            <a:endParaRPr lang="en-US" sz="1250">
              <a:latin typeface="Aptos"/>
              <a:ea typeface="Calibri"/>
              <a:cs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56048" y="916727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C6E8A"/>
                </a:solidFill>
                <a:latin typeface="Aptos" panose="020B0004020202020204" pitchFamily="34" charset="0"/>
                <a:ea typeface="Arial" pitchFamily="34" charset="-122"/>
                <a:cs typeface="Arial"/>
              </a:rPr>
              <a:t>Key Analytical Expressions</a:t>
            </a:r>
            <a:endParaRPr lang="en-US" sz="1400">
              <a:solidFill>
                <a:srgbClr val="0C6E8A"/>
              </a:solidFill>
              <a:latin typeface="Aptos" panose="020B0004020202020204" pitchFamily="34" charset="0"/>
              <a:ea typeface="Calibri"/>
              <a:cs typeface="Arial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01752" y="2800391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C6E8A"/>
                </a:solidFill>
                <a:latin typeface="Aptos" panose="020B0004020202020204" pitchFamily="34" charset="0"/>
                <a:ea typeface="Arial" pitchFamily="34" charset="-122"/>
                <a:cs typeface="Arial"/>
              </a:rPr>
              <a:t>Underlying Assumptions</a:t>
            </a:r>
            <a:endParaRPr lang="en-US" sz="1400">
              <a:solidFill>
                <a:srgbClr val="0C6E8A"/>
              </a:solidFill>
              <a:latin typeface="Aptos" panose="020B0004020202020204" pitchFamily="34" charset="0"/>
              <a:ea typeface="Calibri"/>
              <a:cs typeface="Arial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59058" y="3247741"/>
            <a:ext cx="4251960" cy="88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latin typeface="Aptos" panose="020B0004020202020204" pitchFamily="34" charset="0"/>
                <a:ea typeface="Arial" pitchFamily="34" charset="-122"/>
                <a:cs typeface="Arial"/>
              </a:rPr>
              <a:t>Laminar, steady-state liquid film flow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latin typeface="Aptos" panose="020B0004020202020204" pitchFamily="34" charset="0"/>
                <a:ea typeface="Arial" pitchFamily="34" charset="-122"/>
                <a:cs typeface="Arial"/>
              </a:rPr>
              <a:t>Heat transfer by pure conduction across the film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latin typeface="Aptos" panose="020B0004020202020204" pitchFamily="34" charset="0"/>
                <a:ea typeface="Arial" pitchFamily="34" charset="-122"/>
                <a:cs typeface="Arial"/>
              </a:rPr>
              <a:t>Inertia and convective terms in the film are negligible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latin typeface="Aptos" panose="020B0004020202020204" pitchFamily="34" charset="0"/>
                <a:ea typeface="Arial" pitchFamily="34" charset="-122"/>
                <a:cs typeface="Arial"/>
              </a:rPr>
              <a:t>Vapor shear at the liquid-vapor interface is zero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latin typeface="Aptos" panose="020B0004020202020204" pitchFamily="34" charset="0"/>
                <a:ea typeface="Arial" pitchFamily="34" charset="-122"/>
                <a:cs typeface="Arial"/>
              </a:rPr>
              <a:t>Fluid properties constant at film temperature  </a:t>
            </a:r>
            <a:r>
              <a:rPr lang="en-US" sz="1250" err="1">
                <a:latin typeface="Aptos" panose="020B0004020202020204" pitchFamily="34" charset="0"/>
                <a:ea typeface="Arial" pitchFamily="34" charset="-122"/>
                <a:cs typeface="Arial"/>
              </a:rPr>
              <a:t>T</a:t>
            </a:r>
            <a:r>
              <a:rPr lang="en-US" sz="1250" baseline="-25000" err="1">
                <a:latin typeface="Aptos" panose="020B0004020202020204" pitchFamily="34" charset="0"/>
                <a:ea typeface="Arial" pitchFamily="34" charset="-122"/>
                <a:cs typeface="Arial"/>
              </a:rPr>
              <a:t>f</a:t>
            </a:r>
            <a:r>
              <a:rPr lang="en-US" sz="1250">
                <a:latin typeface="Aptos" panose="020B0004020202020204" pitchFamily="34" charset="0"/>
                <a:ea typeface="Arial" pitchFamily="34" charset="-122"/>
                <a:cs typeface="Arial"/>
              </a:rPr>
              <a:t> = (</a:t>
            </a:r>
            <a:r>
              <a:rPr lang="en-US" sz="1250" err="1">
                <a:latin typeface="Aptos" panose="020B0004020202020204" pitchFamily="34" charset="0"/>
                <a:ea typeface="Arial" pitchFamily="34" charset="-122"/>
                <a:cs typeface="Arial"/>
              </a:rPr>
              <a:t>T</a:t>
            </a:r>
            <a:r>
              <a:rPr lang="en-US" sz="1250" baseline="-25000" err="1">
                <a:latin typeface="Aptos" panose="020B0004020202020204" pitchFamily="34" charset="0"/>
                <a:ea typeface="Arial" pitchFamily="34" charset="-122"/>
                <a:cs typeface="Arial"/>
              </a:rPr>
              <a:t>sat</a:t>
            </a:r>
            <a:r>
              <a:rPr lang="en-US" sz="1250">
                <a:latin typeface="Aptos" panose="020B0004020202020204" pitchFamily="34" charset="0"/>
                <a:ea typeface="Arial" pitchFamily="34" charset="-122"/>
                <a:cs typeface="Arial"/>
              </a:rPr>
              <a:t> + T</a:t>
            </a:r>
            <a:r>
              <a:rPr lang="en-US" sz="1250" baseline="-25000">
                <a:latin typeface="Aptos" panose="020B0004020202020204" pitchFamily="34" charset="0"/>
                <a:ea typeface="Arial" pitchFamily="34" charset="-122"/>
                <a:cs typeface="Arial"/>
              </a:rPr>
              <a:t>w</a:t>
            </a:r>
            <a:r>
              <a:rPr lang="en-US" sz="1250">
                <a:latin typeface="Aptos" panose="020B0004020202020204" pitchFamily="34" charset="0"/>
                <a:ea typeface="Arial" pitchFamily="34" charset="-122"/>
                <a:cs typeface="Arial"/>
              </a:rPr>
              <a:t>)/2</a:t>
            </a:r>
            <a:endParaRPr lang="en-US" sz="1250">
              <a:latin typeface="Aptos" panose="020B0004020202020204" pitchFamily="34" charset="0"/>
              <a:ea typeface="Calibri"/>
              <a:cs typeface="Arial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636008" y="200253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>
              <a:latin typeface="Arial"/>
              <a:ea typeface="Calibri"/>
              <a:cs typeface="Arial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636008" y="229514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>
              <a:latin typeface="Arial"/>
              <a:ea typeface="Calibri"/>
              <a:cs typeface="Arial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chemeClr val="bg1"/>
          </a:solidFill>
          <a:ln w="12700">
            <a:solidFill>
              <a:srgbClr val="080F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82880" y="489661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latin typeface="Arial"/>
                <a:ea typeface="Arial" pitchFamily="34" charset="-122"/>
                <a:cs typeface="Arial"/>
              </a:rPr>
              <a:t>The Nusselt solution assumes gravity only drainage and zero vapor shear, Part(a) of our simulation reproduces this analytically</a:t>
            </a:r>
            <a:endParaRPr lang="en-US" sz="850">
              <a:latin typeface="Arial"/>
              <a:ea typeface="Calibri"/>
              <a:cs typeface="Arial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FC092E0-8033-6188-8DAA-61293443B47E}"/>
              </a:ext>
            </a:extLst>
          </p:cNvPr>
          <p:cNvGrpSpPr/>
          <p:nvPr/>
        </p:nvGrpSpPr>
        <p:grpSpPr>
          <a:xfrm>
            <a:off x="7603107" y="1689915"/>
            <a:ext cx="1237179" cy="2381437"/>
            <a:chOff x="7593964" y="1541195"/>
            <a:chExt cx="1237179" cy="2381437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A18C300D-CF47-B756-3E89-10FD40BE5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260" r="7400"/>
            <a:stretch>
              <a:fillRect/>
            </a:stretch>
          </p:blipFill>
          <p:spPr>
            <a:xfrm>
              <a:off x="7593964" y="1541195"/>
              <a:ext cx="1237179" cy="52083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111F7B5-AE56-B5BC-FA3D-A52AD7DB0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28"/>
            <a:stretch>
              <a:fillRect/>
            </a:stretch>
          </p:blipFill>
          <p:spPr>
            <a:xfrm>
              <a:off x="7823780" y="3539065"/>
              <a:ext cx="666712" cy="383567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8B1BA46-1B0B-13B3-0A2C-D2A401EC4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70411" y="2227893"/>
              <a:ext cx="859370" cy="520834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0AE313A-64A5-424D-063B-FFA796AA9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23780" y="2931189"/>
              <a:ext cx="818089" cy="383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7812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Part (a) - Simulation Results</a:t>
            </a:r>
            <a:endParaRPr lang="en-US" sz="2200">
              <a:latin typeface="Aptos" panose="020B0004020202020204" pitchFamily="34" charset="0"/>
              <a:ea typeface="Palatino" pitchFamily="2" charset="77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EB70F7-1A7B-B877-E317-3FF20972226D}"/>
              </a:ext>
            </a:extLst>
          </p:cNvPr>
          <p:cNvGrpSpPr/>
          <p:nvPr/>
        </p:nvGrpSpPr>
        <p:grpSpPr>
          <a:xfrm>
            <a:off x="0" y="749808"/>
            <a:ext cx="4403725" cy="4348120"/>
            <a:chOff x="470116" y="446558"/>
            <a:chExt cx="3734852" cy="3720848"/>
          </a:xfrm>
        </p:grpSpPr>
        <p:pic>
          <p:nvPicPr>
            <p:cNvPr id="16" name="Picture 15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BA546865-6045-FB48-CBF5-45AA6316D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33671" y="2304957"/>
              <a:ext cx="1871297" cy="1862449"/>
            </a:xfrm>
            <a:prstGeom prst="rect">
              <a:avLst/>
            </a:prstGeom>
          </p:spPr>
        </p:pic>
        <p:pic>
          <p:nvPicPr>
            <p:cNvPr id="18" name="Picture 17" descr="A graph with a red line&#10;&#10;AI-generated content may be incorrect.">
              <a:extLst>
                <a:ext uri="{FF2B5EF4-FFF2-40B4-BE49-F238E27FC236}">
                  <a16:creationId xmlns:a16="http://schemas.microsoft.com/office/drawing/2014/main" id="{2A441F9B-934A-7EE7-3E64-9BEF82915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116" y="2304957"/>
              <a:ext cx="1866873" cy="1862449"/>
            </a:xfrm>
            <a:prstGeom prst="rect">
              <a:avLst/>
            </a:prstGeom>
          </p:spPr>
        </p:pic>
        <p:pic>
          <p:nvPicPr>
            <p:cNvPr id="20" name="Picture 19" descr="A graph of a heat transfer coefficient&#10;&#10;AI-generated content may be incorrect.">
              <a:extLst>
                <a:ext uri="{FF2B5EF4-FFF2-40B4-BE49-F238E27FC236}">
                  <a16:creationId xmlns:a16="http://schemas.microsoft.com/office/drawing/2014/main" id="{A693E8A1-7DA2-3A0E-EC55-101D7361A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29247" y="446558"/>
              <a:ext cx="1871297" cy="1862449"/>
            </a:xfrm>
            <a:prstGeom prst="rect">
              <a:avLst/>
            </a:prstGeom>
          </p:spPr>
        </p:pic>
        <p:pic>
          <p:nvPicPr>
            <p:cNvPr id="22" name="Picture 21" descr="A graph of a curve&#10;&#10;AI-generated content may be incorrect.">
              <a:extLst>
                <a:ext uri="{FF2B5EF4-FFF2-40B4-BE49-F238E27FC236}">
                  <a16:creationId xmlns:a16="http://schemas.microsoft.com/office/drawing/2014/main" id="{AF07C4FC-1A6F-1BDC-4E7C-5EA4AB934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0116" y="446558"/>
              <a:ext cx="1875752" cy="1862449"/>
            </a:xfrm>
            <a:prstGeom prst="rect">
              <a:avLst/>
            </a:prstGeom>
          </p:spPr>
        </p:pic>
      </p:grpSp>
      <p:sp>
        <p:nvSpPr>
          <p:cNvPr id="25" name="Shape 2">
            <a:extLst>
              <a:ext uri="{FF2B5EF4-FFF2-40B4-BE49-F238E27FC236}">
                <a16:creationId xmlns:a16="http://schemas.microsoft.com/office/drawing/2014/main" id="{FA48BA75-6EC1-DDDA-11FC-49F336B043ED}"/>
              </a:ext>
            </a:extLst>
          </p:cNvPr>
          <p:cNvSpPr/>
          <p:nvPr/>
        </p:nvSpPr>
        <p:spPr>
          <a:xfrm>
            <a:off x="4490520" y="749808"/>
            <a:ext cx="4490517" cy="2274049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3B1F7213-A80B-86E7-23D1-83414790EF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6949225"/>
                  </p:ext>
                </p:extLst>
              </p:nvPr>
            </p:nvGraphicFramePr>
            <p:xfrm>
              <a:off x="4961978" y="838982"/>
              <a:ext cx="3602600" cy="2092640"/>
            </p:xfrm>
            <a:graphic>
              <a:graphicData uri="http://schemas.openxmlformats.org/drawingml/2006/table">
                <a:tbl>
                  <a:tblPr/>
                  <a:tblGrid>
                    <a:gridCol w="1801300">
                      <a:extLst>
                        <a:ext uri="{9D8B030D-6E8A-4147-A177-3AD203B41FA5}">
                          <a16:colId xmlns:a16="http://schemas.microsoft.com/office/drawing/2014/main" val="3741168420"/>
                        </a:ext>
                      </a:extLst>
                    </a:gridCol>
                    <a:gridCol w="1801300">
                      <a:extLst>
                        <a:ext uri="{9D8B030D-6E8A-4147-A177-3AD203B41FA5}">
                          <a16:colId xmlns:a16="http://schemas.microsoft.com/office/drawing/2014/main" val="3115670288"/>
                        </a:ext>
                      </a:extLst>
                    </a:gridCol>
                  </a:tblGrid>
                  <a:tr h="264197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solidFill>
                                <a:srgbClr val="FFFFFF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Result</a:t>
                          </a:r>
                          <a:endParaRPr lang="en-US" sz="12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solidFill>
                                <a:schemeClr val="bg1"/>
                              </a:solidFill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Value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7679581"/>
                      </a:ext>
                    </a:extLst>
                  </a:tr>
                  <a:tr h="259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Nusselt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δ</m:t>
                              </m:r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z</m:t>
                              </m:r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L</m:t>
                              </m:r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)</m:t>
                              </m:r>
                            </m:oMath>
                          </a14:m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157.65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μm</m:t>
                              </m:r>
                            </m:oMath>
                          </a14:m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59179249"/>
                      </a:ext>
                    </a:extLst>
                  </a:tr>
                  <a:tr h="259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Numerical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δ</m:t>
                              </m:r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z</m:t>
                              </m:r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L</m:t>
                              </m:r>
                              <m: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)</m:t>
                              </m:r>
                            </m:oMath>
                          </a14:m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CF6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157.36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μm</m:t>
                              </m:r>
                            </m:oMath>
                          </a14:m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32225723"/>
                      </a:ext>
                    </a:extLst>
                  </a:tr>
                  <a:tr h="259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Nusselt Mean HTC</a:t>
                          </a: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5422.5 W/m</a:t>
                          </a:r>
                          <a:r>
                            <a:rPr lang="en-US" sz="1100" baseline="30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2</a:t>
                          </a:r>
                          <a:r>
                            <a:rPr lang="en-US" sz="1100" baseline="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-K</a:t>
                          </a: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12238938"/>
                      </a:ext>
                    </a:extLst>
                  </a:tr>
                  <a:tr h="259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Numerical Mean HTC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5489.4 </a:t>
                          </a:r>
                          <a:r>
                            <a:rPr lang="en-US" sz="11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W/m</a:t>
                          </a:r>
                          <a:r>
                            <a:rPr lang="en-US" sz="1100" baseline="30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2</a:t>
                          </a:r>
                          <a:r>
                            <a:rPr lang="en-US" sz="1100" baseline="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-K</a:t>
                          </a: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94672712"/>
                      </a:ext>
                    </a:extLst>
                  </a:tr>
                  <a:tr h="259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Maximum Relative Error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29.29 % (when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100" b="0" i="1" smtClean="0">
                                  <a:latin typeface="Cambria Math" panose="02040503050406030204" pitchFamily="18" charset="0"/>
                                  <a:ea typeface="Calibri" charset="0"/>
                                  <a:cs typeface="Calibri" charset="0"/>
                                </a:rPr>
                                <m:t>z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libri" charset="0"/>
                                  <a:cs typeface="Calibri" charset="0"/>
                                </a:rPr>
                                <m:t>≈0</m:t>
                              </m:r>
                            </m:oMath>
                          </a14:m>
                          <a:r>
                            <a:rPr lang="en-US" sz="1100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)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9309727"/>
                      </a:ext>
                    </a:extLst>
                  </a:tr>
                  <a:tr h="259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Mean Relative Error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0.64 %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10706769"/>
                      </a:ext>
                    </a:extLst>
                  </a:tr>
                  <a:tr h="259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  <a:ea typeface="Calibri" charset="0"/>
                                        <a:cs typeface="Calibri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  <a:ea typeface="Calibri" charset="0"/>
                                        <a:cs typeface="Calibri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  <a:ea typeface="Calibri" charset="0"/>
                                        <a:cs typeface="Calibri" charset="0"/>
                                      </a:rPr>
                                      <m:t>𝑠𝑠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100" b="0" i="1" smtClean="0">
                                        <a:latin typeface="Cambria Math" panose="02040503050406030204" pitchFamily="18" charset="0"/>
                                        <a:ea typeface="Calibri" charset="0"/>
                                        <a:cs typeface="Calibri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  <a:ea typeface="Calibri" charset="0"/>
                                        <a:cs typeface="Calibri" charset="0"/>
                                      </a:rPr>
                                      <m:t>𝐿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100" b="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2.236 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259587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3B1F7213-A80B-86E7-23D1-83414790EF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6949225"/>
                  </p:ext>
                </p:extLst>
              </p:nvPr>
            </p:nvGraphicFramePr>
            <p:xfrm>
              <a:off x="4961978" y="838982"/>
              <a:ext cx="3602600" cy="2092640"/>
            </p:xfrm>
            <a:graphic>
              <a:graphicData uri="http://schemas.openxmlformats.org/drawingml/2006/table">
                <a:tbl>
                  <a:tblPr/>
                  <a:tblGrid>
                    <a:gridCol w="1801300">
                      <a:extLst>
                        <a:ext uri="{9D8B030D-6E8A-4147-A177-3AD203B41FA5}">
                          <a16:colId xmlns:a16="http://schemas.microsoft.com/office/drawing/2014/main" val="3741168420"/>
                        </a:ext>
                      </a:extLst>
                    </a:gridCol>
                    <a:gridCol w="1801300">
                      <a:extLst>
                        <a:ext uri="{9D8B030D-6E8A-4147-A177-3AD203B41FA5}">
                          <a16:colId xmlns:a16="http://schemas.microsoft.com/office/drawing/2014/main" val="3115670288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solidFill>
                                <a:srgbClr val="FFFFFF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Result</a:t>
                          </a:r>
                          <a:endParaRPr lang="en-US" sz="12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solidFill>
                                <a:schemeClr val="bg1"/>
                              </a:solidFill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Value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7679581"/>
                      </a:ext>
                    </a:extLst>
                  </a:tr>
                  <a:tr h="259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104651" r="-100338" b="-6093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00" t="-104651" r="-338" b="-6093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9179249"/>
                      </a:ext>
                    </a:extLst>
                  </a:tr>
                  <a:tr h="259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209524" r="-100338" b="-52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00" t="-209524" r="-338" b="-5238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2225723"/>
                      </a:ext>
                    </a:extLst>
                  </a:tr>
                  <a:tr h="259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Nusselt Mean HTC</a:t>
                          </a: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5422.5 W/m</a:t>
                          </a:r>
                          <a:r>
                            <a:rPr lang="en-US" sz="1100" baseline="30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2</a:t>
                          </a:r>
                          <a:r>
                            <a:rPr lang="en-US" sz="1100" baseline="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-K</a:t>
                          </a: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12238938"/>
                      </a:ext>
                    </a:extLst>
                  </a:tr>
                  <a:tr h="259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Numerical Mean HTC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5489.4 </a:t>
                          </a:r>
                          <a:r>
                            <a:rPr lang="en-US" sz="11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W/m</a:t>
                          </a:r>
                          <a:r>
                            <a:rPr lang="en-US" sz="1100" baseline="30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2</a:t>
                          </a:r>
                          <a:r>
                            <a:rPr lang="en-US" sz="1100" baseline="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-K</a:t>
                          </a: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94672712"/>
                      </a:ext>
                    </a:extLst>
                  </a:tr>
                  <a:tr h="259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Maximum Relative Error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00" t="-502326" r="-338" b="-2116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9309727"/>
                      </a:ext>
                    </a:extLst>
                  </a:tr>
                  <a:tr h="25976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Mean Relative Error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0.64 %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10706769"/>
                      </a:ext>
                    </a:extLst>
                  </a:tr>
                  <a:tr h="259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700000" r="-100338" b="-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100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2.236 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259587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Shape 2">
                <a:extLst>
                  <a:ext uri="{FF2B5EF4-FFF2-40B4-BE49-F238E27FC236}">
                    <a16:creationId xmlns:a16="http://schemas.microsoft.com/office/drawing/2014/main" id="{B3E1462C-8A00-B165-17C4-0280A81E5F83}"/>
                  </a:ext>
                </a:extLst>
              </p:cNvPr>
              <p:cNvSpPr/>
              <p:nvPr/>
            </p:nvSpPr>
            <p:spPr>
              <a:xfrm>
                <a:off x="4490520" y="3113031"/>
                <a:ext cx="4485206" cy="1939029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BDC3C7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pPr>
                  <a:spcAft>
                    <a:spcPts val="120"/>
                  </a:spcAft>
                </a:pPr>
                <a:r>
                  <a:rPr lang="en-US" sz="1400" b="1">
                    <a:solidFill>
                      <a:srgbClr val="0A6E8A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Key Physical Observations</a:t>
                </a:r>
              </a:p>
              <a:p>
                <a:pPr marL="171450" indent="-171450">
                  <a:spcAft>
                    <a:spcPts val="120"/>
                  </a:spcAft>
                  <a:buFont typeface="Arial" panose="020B0604020202020204" pitchFamily="34" charset="0"/>
                  <a:buChar char="•"/>
                </a:pPr>
                <a:r>
                  <a:rPr lang="en-US" sz="1200">
                    <a:latin typeface="Aptos" panose="020B0004020202020204" pitchFamily="34" charset="0"/>
                    <a:ea typeface="Palatino" pitchFamily="2" charset="77"/>
                  </a:rPr>
                  <a:t>The film does not grow uniformly. A wave propagates from z=0, and only the region behind it reaches steady state.</a:t>
                </a:r>
              </a:p>
              <a:p>
                <a:pPr marL="171450" indent="-171450">
                  <a:spcAft>
                    <a:spcPts val="120"/>
                  </a:spcAft>
                  <a:buFont typeface="Arial" panose="020B0604020202020204" pitchFamily="34" charset="0"/>
                  <a:buChar char="•"/>
                </a:pPr>
                <a:r>
                  <a:rPr lang="en-US" sz="1200">
                    <a:latin typeface="Aptos" panose="020B0004020202020204" pitchFamily="34" charset="0"/>
                    <a:ea typeface="Palatino" pitchFamily="2" charset="77"/>
                  </a:rPr>
                  <a:t>The heat transfer coefficient degrades as we go downwards,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h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  <m:t>𝑧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  <m:r>
                          <m:rPr>
                            <m:lit/>
                          </m:r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200" b="0">
                    <a:latin typeface="Aptos" panose="020B0004020202020204" pitchFamily="34" charset="0"/>
                    <a:ea typeface="Cambria Math" panose="02040503050406030204" pitchFamily="18" charset="0"/>
                  </a:rPr>
                  <a:t> so it is highest at the top.</a:t>
                </a:r>
              </a:p>
              <a:p>
                <a:pPr marL="171450" indent="-171450">
                  <a:spcAft>
                    <a:spcPts val="120"/>
                  </a:spcAft>
                  <a:buFont typeface="Arial" panose="020B0604020202020204" pitchFamily="34" charset="0"/>
                  <a:buChar char="•"/>
                </a:pPr>
                <a:r>
                  <a:rPr lang="en-US" sz="1200">
                    <a:latin typeface="Aptos" panose="020B0004020202020204" pitchFamily="34" charset="0"/>
                    <a:ea typeface="Cambria Math" panose="02040503050406030204" pitchFamily="18" charset="0"/>
                  </a:rPr>
                  <a:t>Steady state is reached quickly, implying that the quasi-Nusselt assumption becomes valid immediately.</a:t>
                </a:r>
              </a:p>
              <a:p>
                <a:pPr marL="171450" indent="-171450">
                  <a:spcAft>
                    <a:spcPts val="12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0">
                    <a:latin typeface="Aptos" panose="020B0004020202020204" pitchFamily="34" charset="0"/>
                    <a:ea typeface="Cambria Math" panose="02040503050406030204" pitchFamily="18" charset="0"/>
                  </a:rPr>
                  <a:t>A </a:t>
                </a:r>
                <a:r>
                  <a:rPr lang="en-US" sz="1200">
                    <a:latin typeface="Aptos" panose="020B0004020202020204" pitchFamily="34" charset="0"/>
                    <a:ea typeface="Cambria Math" panose="02040503050406030204" pitchFamily="18" charset="0"/>
                  </a:rPr>
                  <a:t>low mean error shows that the simulations are accurate, the max. rel. error is just a singularity artifact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lang="en-US" sz="1200" b="0">
                    <a:latin typeface="Aptos" panose="020B0004020202020204" pitchFamily="34" charset="0"/>
                    <a:ea typeface="Cambria Math" panose="02040503050406030204" pitchFamily="18" charset="0"/>
                  </a:rPr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200">
                  <a:latin typeface="Aptos" panose="020B0004020202020204" pitchFamily="34" charset="0"/>
                  <a:ea typeface="Palatino" pitchFamily="2" charset="7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200">
                  <a:latin typeface="Aptos" panose="020B0004020202020204" pitchFamily="34" charset="0"/>
                  <a:ea typeface="Palatino" pitchFamily="2" charset="77"/>
                </a:endParaRPr>
              </a:p>
            </p:txBody>
          </p:sp>
        </mc:Choice>
        <mc:Fallback xmlns="">
          <p:sp>
            <p:nvSpPr>
              <p:cNvPr id="27" name="Shape 2">
                <a:extLst>
                  <a:ext uri="{FF2B5EF4-FFF2-40B4-BE49-F238E27FC236}">
                    <a16:creationId xmlns:a16="http://schemas.microsoft.com/office/drawing/2014/main" id="{B3E1462C-8A00-B165-17C4-0280A81E5F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0520" y="3113031"/>
                <a:ext cx="4485206" cy="19390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6350">
                <a:solidFill>
                  <a:srgbClr val="BDC3C7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2">
            <a:extLst>
              <a:ext uri="{FF2B5EF4-FFF2-40B4-BE49-F238E27FC236}">
                <a16:creationId xmlns:a16="http://schemas.microsoft.com/office/drawing/2014/main" id="{0A4E69C8-AD29-E5FF-B9F8-BE859B8FAA4A}"/>
              </a:ext>
            </a:extLst>
          </p:cNvPr>
          <p:cNvSpPr/>
          <p:nvPr/>
        </p:nvSpPr>
        <p:spPr>
          <a:xfrm>
            <a:off x="92597" y="749808"/>
            <a:ext cx="6595147" cy="3099816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B7EAE53A-B3E6-FE46-7A24-85EB408A354B}"/>
              </a:ext>
            </a:extLst>
          </p:cNvPr>
          <p:cNvSpPr/>
          <p:nvPr/>
        </p:nvSpPr>
        <p:spPr>
          <a:xfrm>
            <a:off x="6789985" y="749808"/>
            <a:ext cx="2261418" cy="3099816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Shape 8">
                <a:extLst>
                  <a:ext uri="{FF2B5EF4-FFF2-40B4-BE49-F238E27FC236}">
                    <a16:creationId xmlns:a16="http://schemas.microsoft.com/office/drawing/2014/main" id="{DD047F31-D803-BF0D-5EAF-494883A9E548}"/>
                  </a:ext>
                </a:extLst>
              </p:cNvPr>
              <p:cNvSpPr/>
              <p:nvPr/>
            </p:nvSpPr>
            <p:spPr>
              <a:xfrm>
                <a:off x="92597" y="3941063"/>
                <a:ext cx="8795371" cy="1068599"/>
              </a:xfrm>
              <a:prstGeom prst="rect">
                <a:avLst/>
              </a:prstGeom>
              <a:solidFill>
                <a:srgbClr val="D6EAF8"/>
              </a:solidFill>
              <a:ln w="6350">
                <a:solidFill>
                  <a:srgbClr val="BDC3C7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Greater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ΔT</m:t>
                    </m:r>
                  </m:oMath>
                </a14:m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, thicker the film. Higher subcooling leads to more condensation, adding more mass to the film and increasing the film thickness before gravity can drain it.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Greater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ΔT</m:t>
                    </m:r>
                  </m:oMath>
                </a14:m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, lower the local heat transfer coefficient. Thicker film at a higher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ΔT</m:t>
                    </m:r>
                  </m:oMath>
                </a14:m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 has a greater thermal resistance countering the effect of the larger driving force of the higher temperature gradient.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Greater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ΔT</m:t>
                    </m:r>
                  </m:oMath>
                </a14:m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, lower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100" b="0" i="1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  <m:t>t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Palatino" pitchFamily="2" charset="77"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en-US" sz="1100" b="0">
                    <a:latin typeface="Aptos" panose="020B0004020202020204" pitchFamily="34" charset="0"/>
                    <a:ea typeface="Palatino" pitchFamily="2" charset="77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α</m:t>
                    </m:r>
                  </m:oMath>
                </a14:m>
                <a:r>
                  <a:rPr lang="en-US" sz="1100" b="0">
                    <a:latin typeface="Aptos" panose="020B0004020202020204" pitchFamily="34" charset="0"/>
                    <a:ea typeface="Palatino" pitchFamily="2" charset="77"/>
                  </a:rPr>
                  <a:t> </a:t>
                </a:r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is also higher as a consequence. So, the kinematic wave travels faster reaching steady state quicker. Also, regardless of subcooling, all three cases establish steady state within 5 seconds, which is quite fast.</a:t>
                </a:r>
                <a:endParaRPr lang="en-US" sz="1100" b="0">
                  <a:latin typeface="Aptos" panose="020B0004020202020204" pitchFamily="34" charset="0"/>
                  <a:ea typeface="Palatino" pitchFamily="2" charset="77"/>
                </a:endParaRPr>
              </a:p>
            </p:txBody>
          </p:sp>
        </mc:Choice>
        <mc:Fallback xmlns="">
          <p:sp>
            <p:nvSpPr>
              <p:cNvPr id="36" name="Shape 8">
                <a:extLst>
                  <a:ext uri="{FF2B5EF4-FFF2-40B4-BE49-F238E27FC236}">
                    <a16:creationId xmlns:a16="http://schemas.microsoft.com/office/drawing/2014/main" id="{DD047F31-D803-BF0D-5EAF-494883A9E5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97" y="3941063"/>
                <a:ext cx="8795371" cy="10685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">
                <a:solidFill>
                  <a:srgbClr val="BDC3C7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Part (a) - Parametric Study: Effect of ΔT and L</a:t>
            </a:r>
            <a:endParaRPr lang="en-US" sz="2400">
              <a:latin typeface="Aptos" panose="020B0004020202020204" pitchFamily="34" charset="0"/>
              <a:ea typeface="Palatino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4102002"/>
                  </p:ext>
                </p:extLst>
              </p:nvPr>
            </p:nvGraphicFramePr>
            <p:xfrm>
              <a:off x="6789986" y="749806"/>
              <a:ext cx="2261417" cy="3099816"/>
            </p:xfrm>
            <a:graphic>
              <a:graphicData uri="http://schemas.openxmlformats.org/drawingml/2006/table">
                <a:tbl>
                  <a:tblPr/>
                  <a:tblGrid>
                    <a:gridCol w="5252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775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469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739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74954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solidFill>
                                <a:srgbClr val="FFFFFF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ΔT (K)</a:t>
                          </a:r>
                          <a:endParaRPr lang="en-US" sz="12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5 </a:t>
                          </a:r>
                          <a:endParaRPr lang="en-US" sz="1200" b="1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CF6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charset="0"/>
                              <a:cs typeface="Calibri" pitchFamily="34" charset="-120"/>
                            </a:rPr>
                            <a:t>10</a:t>
                          </a:r>
                          <a:endParaRPr lang="en-US" sz="1200" b="1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20 </a:t>
                          </a:r>
                          <a:endParaRPr lang="en-US" sz="1200" b="1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CF6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7495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11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𝜹</m:t>
                              </m:r>
                              <m:r>
                                <a:rPr lang="en-US" sz="11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(</m:t>
                              </m:r>
                              <m:r>
                                <a:rPr lang="en-US" sz="11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𝑳</m:t>
                              </m:r>
                              <m:r>
                                <a:rPr lang="en-US" sz="11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Calibri" pitchFamily="34" charset="-122"/>
                                  <a:cs typeface="Calibri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100" b="1">
                              <a:solidFill>
                                <a:srgbClr val="FFFFFF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 (µm)</a:t>
                          </a: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C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111.27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132.32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157.36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74954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100" b="1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</m:ctrlPr>
                                </m:accPr>
                                <m:e>
                                  <m:r>
                                    <a:rPr lang="en-US" sz="1100" b="1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  <m:t>𝒉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100" b="1">
                              <a:solidFill>
                                <a:srgbClr val="FFFFFF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 (W/m²K)</a:t>
                          </a: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C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7763.2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6528.0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5489.4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74954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1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1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  <m:t>𝒕</m:t>
                                  </m:r>
                                </m:e>
                                <m:sub>
                                  <m:r>
                                    <a:rPr lang="en-US" sz="1100" b="1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  <a:ea typeface="Calibri" pitchFamily="34" charset="-122"/>
                                      <a:cs typeface="Calibri" pitchFamily="34" charset="-120"/>
                                    </a:rPr>
                                    <m:t>𝒔𝒔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1">
                              <a:solidFill>
                                <a:srgbClr val="FFFFFF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 (s)</a:t>
                          </a: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C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4.473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3.163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2.236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4102002"/>
                  </p:ext>
                </p:extLst>
              </p:nvPr>
            </p:nvGraphicFramePr>
            <p:xfrm>
              <a:off x="6789986" y="749806"/>
              <a:ext cx="2261417" cy="3099816"/>
            </p:xfrm>
            <a:graphic>
              <a:graphicData uri="http://schemas.openxmlformats.org/drawingml/2006/table">
                <a:tbl>
                  <a:tblPr/>
                  <a:tblGrid>
                    <a:gridCol w="52521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775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469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739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74954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solidFill>
                                <a:srgbClr val="FFFFFF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ΔT (K)</a:t>
                          </a:r>
                          <a:endParaRPr lang="en-US" sz="12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5 </a:t>
                          </a:r>
                          <a:endParaRPr lang="en-US" sz="1200" b="1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CF6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charset="0"/>
                              <a:cs typeface="Calibri" pitchFamily="34" charset="-120"/>
                            </a:rPr>
                            <a:t>10</a:t>
                          </a:r>
                          <a:endParaRPr lang="en-US" sz="1200" b="1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20 </a:t>
                          </a:r>
                          <a:endParaRPr lang="en-US" sz="1200" b="1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CF6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749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00787" r="-333721" b="-2015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111.27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132.32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157.36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749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99219" r="-33372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7763.2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6528.0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5489.4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749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01575" r="-333721" b="-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4.473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3.163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2.236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0ABCE2F-3832-3276-EE79-8FE356B99BD5}"/>
              </a:ext>
            </a:extLst>
          </p:cNvPr>
          <p:cNvGrpSpPr/>
          <p:nvPr/>
        </p:nvGrpSpPr>
        <p:grpSpPr>
          <a:xfrm>
            <a:off x="163121" y="1021208"/>
            <a:ext cx="6342875" cy="2814417"/>
            <a:chOff x="1108977" y="1299950"/>
            <a:chExt cx="5434011" cy="2429301"/>
          </a:xfrm>
        </p:grpSpPr>
        <p:pic>
          <p:nvPicPr>
            <p:cNvPr id="28" name="Picture 27" descr="A graph of a graph&#10;&#10;AI-generated content may be incorrect.">
              <a:extLst>
                <a:ext uri="{FF2B5EF4-FFF2-40B4-BE49-F238E27FC236}">
                  <a16:creationId xmlns:a16="http://schemas.microsoft.com/office/drawing/2014/main" id="{6A54CFAA-F48E-C14B-29B3-F1BAF55A0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8977" y="1299950"/>
              <a:ext cx="1818751" cy="2429301"/>
            </a:xfrm>
            <a:prstGeom prst="rect">
              <a:avLst/>
            </a:prstGeom>
          </p:spPr>
        </p:pic>
        <p:pic>
          <p:nvPicPr>
            <p:cNvPr id="29" name="Picture 28" descr="A graph of a graph&#10;&#10;AI-generated content may be incorrect.">
              <a:extLst>
                <a:ext uri="{FF2B5EF4-FFF2-40B4-BE49-F238E27FC236}">
                  <a16:creationId xmlns:a16="http://schemas.microsoft.com/office/drawing/2014/main" id="{6DBB92A9-4A10-3590-0FFD-CE131FA91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27728" y="1299950"/>
              <a:ext cx="1818751" cy="2429301"/>
            </a:xfrm>
            <a:prstGeom prst="rect">
              <a:avLst/>
            </a:prstGeom>
          </p:spPr>
        </p:pic>
        <p:pic>
          <p:nvPicPr>
            <p:cNvPr id="30" name="Picture 29" descr="A graph of a graph&#10;&#10;AI-generated content may be incorrect.">
              <a:extLst>
                <a:ext uri="{FF2B5EF4-FFF2-40B4-BE49-F238E27FC236}">
                  <a16:creationId xmlns:a16="http://schemas.microsoft.com/office/drawing/2014/main" id="{34ED9015-7835-368B-1D4A-578305FDA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27450" y="1299950"/>
              <a:ext cx="1815538" cy="2429301"/>
            </a:xfrm>
            <a:prstGeom prst="rect">
              <a:avLst/>
            </a:prstGeom>
          </p:spPr>
        </p:pic>
      </p:grpSp>
      <p:sp>
        <p:nvSpPr>
          <p:cNvPr id="37" name="Text 6">
            <a:extLst>
              <a:ext uri="{FF2B5EF4-FFF2-40B4-BE49-F238E27FC236}">
                <a16:creationId xmlns:a16="http://schemas.microsoft.com/office/drawing/2014/main" id="{0CF5C6BE-4962-206D-2699-84D42528797D}"/>
              </a:ext>
            </a:extLst>
          </p:cNvPr>
          <p:cNvSpPr/>
          <p:nvPr/>
        </p:nvSpPr>
        <p:spPr>
          <a:xfrm>
            <a:off x="163123" y="73844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Effect of Wall Subcooling ΔT (L = 0.5 m)</a:t>
            </a:r>
            <a:endParaRPr lang="en-US" sz="1300">
              <a:latin typeface="Aptos" panose="020B0004020202020204" pitchFamily="34" charset="0"/>
              <a:ea typeface="Palatino" pitchFamily="2" charset="7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DF651C-A6DA-DFB9-0D13-DC956B84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FB7363-2E2E-B488-6DAB-E0284D3D7EC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C6508D-F62E-EBC4-02C6-8C720DA32306}"/>
              </a:ext>
            </a:extLst>
          </p:cNvPr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Part (a) - Parametric Study: Effect of ΔT and L</a:t>
            </a:r>
            <a:endParaRPr lang="en-US" sz="22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ED8569C-64E5-2C8C-DD82-A1B73043618C}"/>
              </a:ext>
            </a:extLst>
          </p:cNvPr>
          <p:cNvSpPr/>
          <p:nvPr/>
        </p:nvSpPr>
        <p:spPr>
          <a:xfrm>
            <a:off x="47482" y="745671"/>
            <a:ext cx="6609335" cy="3099816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96DF2D8C-3766-3236-2CE9-778701EA0D40}"/>
              </a:ext>
            </a:extLst>
          </p:cNvPr>
          <p:cNvSpPr/>
          <p:nvPr/>
        </p:nvSpPr>
        <p:spPr>
          <a:xfrm>
            <a:off x="6789985" y="749808"/>
            <a:ext cx="2261418" cy="3099816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37E1C0E-5AAA-C1EE-B372-25EC11D50EEF}"/>
              </a:ext>
            </a:extLst>
          </p:cNvPr>
          <p:cNvSpPr/>
          <p:nvPr/>
        </p:nvSpPr>
        <p:spPr>
          <a:xfrm>
            <a:off x="163123" y="73844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Effect of Plate Length L  (ΔT = 20 K)</a:t>
            </a:r>
            <a:endParaRPr lang="en-US" sz="1300">
              <a:latin typeface="Aptos" panose="020B0004020202020204" pitchFamily="34" charset="0"/>
              <a:ea typeface="Palatino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hape 8">
                <a:extLst>
                  <a:ext uri="{FF2B5EF4-FFF2-40B4-BE49-F238E27FC236}">
                    <a16:creationId xmlns:a16="http://schemas.microsoft.com/office/drawing/2014/main" id="{AEF270FA-24E1-E1BA-FC9E-1CC508CF6513}"/>
                  </a:ext>
                </a:extLst>
              </p:cNvPr>
              <p:cNvSpPr/>
              <p:nvPr/>
            </p:nvSpPr>
            <p:spPr>
              <a:xfrm>
                <a:off x="92597" y="3941063"/>
                <a:ext cx="8795371" cy="1068599"/>
              </a:xfrm>
              <a:prstGeom prst="rect">
                <a:avLst/>
              </a:prstGeom>
              <a:solidFill>
                <a:srgbClr val="D6EAF8"/>
              </a:solidFill>
              <a:ln w="6350">
                <a:solidFill>
                  <a:srgbClr val="BDC3C7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δ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(</m:t>
                    </m:r>
                    <m:r>
                      <m:rPr>
                        <m:sty m:val="p"/>
                      </m:rP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z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ea typeface="Palatino" pitchFamily="2" charset="77"/>
                      </a:rPr>
                      <m:t>)</m:t>
                    </m:r>
                  </m:oMath>
                </a14:m>
                <a:r>
                  <a:rPr lang="en-US" sz="1100">
                    <a:latin typeface="Aptos" panose="020B0004020202020204" pitchFamily="34" charset="0"/>
                    <a:ea typeface="Palatino" pitchFamily="2" charset="77"/>
                  </a:rPr>
                  <a:t> profile is universal for all 3 cases, they follow the same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US" sz="11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1100" b="0">
                    <a:latin typeface="Aptos" panose="020B0004020202020204" pitchFamily="34" charset="0"/>
                  </a:rPr>
                  <a:t> curve. The length of the plate just determines where on the plate you stop, and naturally a longer plate has a thicker film at the bottom edge.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b="0">
                    <a:latin typeface="Aptos" panose="020B0004020202020204" pitchFamily="34" charset="0"/>
                  </a:rPr>
                  <a:t>The local heat transfer coefficient is also plot in</a:t>
                </a:r>
                <a:r>
                  <a:rPr lang="en-US" sz="1100">
                    <a:latin typeface="Aptos" panose="020B0004020202020204" pitchFamily="34" charset="0"/>
                  </a:rPr>
                  <a:t>dependent. The heat transfer mechanism is unaffected, only the total heat transfer area changes due to which longer plates have a lower heat transfer coefficient.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 b="0">
                    <a:latin typeface="Aptos" panose="020B0004020202020204" pitchFamily="34" charset="0"/>
                  </a:rPr>
                  <a:t>The steady state time scales with the plate length accordin</a:t>
                </a:r>
                <a:r>
                  <a:rPr lang="en-US" sz="1100">
                    <a:latin typeface="Aptos" panose="020B0004020202020204" pitchFamily="34" charset="0"/>
                  </a:rPr>
                  <a:t>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ad>
                      <m:radPr>
                        <m:degHide m:val="on"/>
                        <m:ctrlPr>
                          <a:rPr 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</m:rad>
                  </m:oMath>
                </a14:m>
                <a:r>
                  <a:rPr lang="en-US" sz="1100" b="0">
                    <a:latin typeface="Aptos" panose="020B0004020202020204" pitchFamily="34" charset="0"/>
                  </a:rPr>
                  <a:t>. The kinematic wave takes longer to reach the bottom of a longer plate, which is consistent with the analytical estimate.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100" b="0">
                  <a:latin typeface="Aptos" panose="020B00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100" b="0">
                  <a:latin typeface="Aptos" panose="020B00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100">
                  <a:latin typeface="Aptos" panose="020B0004020202020204" pitchFamily="34" charset="0"/>
                  <a:ea typeface="Palatino" pitchFamily="2" charset="77"/>
                </a:endParaRPr>
              </a:p>
            </p:txBody>
          </p:sp>
        </mc:Choice>
        <mc:Fallback xmlns="">
          <p:sp>
            <p:nvSpPr>
              <p:cNvPr id="12" name="Shape 8">
                <a:extLst>
                  <a:ext uri="{FF2B5EF4-FFF2-40B4-BE49-F238E27FC236}">
                    <a16:creationId xmlns:a16="http://schemas.microsoft.com/office/drawing/2014/main" id="{AEF270FA-24E1-E1BA-FC9E-1CC508CF65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97" y="3941063"/>
                <a:ext cx="8795371" cy="10685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">
                <a:solidFill>
                  <a:srgbClr val="BDC3C7"/>
                </a:solidFill>
                <a:prstDash val="solid"/>
              </a:ln>
              <a:effectLst>
                <a:outerShdw blurRad="50800" dist="25400" dir="81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 descr="A graph with a line&#10;&#10;AI-generated content may be incorrect.">
            <a:extLst>
              <a:ext uri="{FF2B5EF4-FFF2-40B4-BE49-F238E27FC236}">
                <a16:creationId xmlns:a16="http://schemas.microsoft.com/office/drawing/2014/main" id="{E91E9058-88AC-8268-A9CF-1086764AF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82" y="1010960"/>
            <a:ext cx="2085324" cy="2778792"/>
          </a:xfrm>
          <a:prstGeom prst="rect">
            <a:avLst/>
          </a:prstGeom>
        </p:spPr>
      </p:pic>
      <p:pic>
        <p:nvPicPr>
          <p:cNvPr id="23" name="Picture 22" descr="A graph of a graph&#10;&#10;AI-generated content may be incorrect.">
            <a:extLst>
              <a:ext uri="{FF2B5EF4-FFF2-40B4-BE49-F238E27FC236}">
                <a16:creationId xmlns:a16="http://schemas.microsoft.com/office/drawing/2014/main" id="{8C162FE2-3EF1-D219-0E1F-6A046C610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6206" y="1010960"/>
            <a:ext cx="2291889" cy="2778792"/>
          </a:xfrm>
          <a:prstGeom prst="rect">
            <a:avLst/>
          </a:prstGeom>
        </p:spPr>
      </p:pic>
      <p:pic>
        <p:nvPicPr>
          <p:cNvPr id="25" name="Picture 24" descr="A graph of a line graph&#10;&#10;AI-generated content may be incorrect.">
            <a:extLst>
              <a:ext uri="{FF2B5EF4-FFF2-40B4-BE49-F238E27FC236}">
                <a16:creationId xmlns:a16="http://schemas.microsoft.com/office/drawing/2014/main" id="{F0F3DC9D-3578-E03F-B7F1-79ABA97E8D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0142" y="1010960"/>
            <a:ext cx="2189649" cy="27787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">
                <a:extLst>
                  <a:ext uri="{FF2B5EF4-FFF2-40B4-BE49-F238E27FC236}">
                    <a16:creationId xmlns:a16="http://schemas.microsoft.com/office/drawing/2014/main" id="{97D1B12B-366B-6C10-B23C-0037E32789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2750586"/>
                  </p:ext>
                </p:extLst>
              </p:nvPr>
            </p:nvGraphicFramePr>
            <p:xfrm>
              <a:off x="6789984" y="749808"/>
              <a:ext cx="2261418" cy="3099816"/>
            </p:xfrm>
            <a:graphic>
              <a:graphicData uri="http://schemas.openxmlformats.org/drawingml/2006/table">
                <a:tbl>
                  <a:tblPr/>
                  <a:tblGrid>
                    <a:gridCol w="4967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98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94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535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48054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solidFill>
                                <a:srgbClr val="FFFFFF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L (m)</a:t>
                          </a:r>
                          <a:endParaRPr lang="en-US" sz="12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0.1</a:t>
                          </a:r>
                          <a:endParaRPr lang="en-US" sz="1200" b="1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CF6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0.5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1.0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CF6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4802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Calibri" pitchFamily="34" charset="-122"/>
                                    <a:cs typeface="Calibri" pitchFamily="34" charset="-120"/>
                                  </a:rPr>
                                  <m:t>𝜹</m:t>
                                </m:r>
                                <m:d>
                                  <m:dPr>
                                    <m:ctrlPr>
                                      <a:rPr lang="en-US" sz="11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Calibri" pitchFamily="34" charset="-12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Calibri" pitchFamily="34" charset="-120"/>
                                      </a:rPr>
                                      <m:t>𝑳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100" b="1">
                            <a:solidFill>
                              <a:srgbClr val="FFFFFF"/>
                            </a:solidFill>
                            <a:latin typeface="Aptos" panose="020B0004020202020204" pitchFamily="34" charset="0"/>
                            <a:ea typeface="Calibri" pitchFamily="34" charset="-122"/>
                            <a:cs typeface="Calibri" pitchFamily="34" charset="-12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b="1">
                              <a:solidFill>
                                <a:srgbClr val="FFFFFF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(µm)</a:t>
                          </a: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C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105.24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157.36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187.13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557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1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Calibri" pitchFamily="34" charset="-12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1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Calibri" pitchFamily="34" charset="-120"/>
                                      </a:rPr>
                                      <m:t>𝒉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100" b="1">
                            <a:solidFill>
                              <a:srgbClr val="FFFFFF"/>
                            </a:solidFill>
                            <a:latin typeface="Aptos" panose="020B0004020202020204" pitchFamily="34" charset="0"/>
                            <a:ea typeface="Calibri" pitchFamily="34" charset="-122"/>
                            <a:cs typeface="Calibri" pitchFamily="34" charset="-12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b="1">
                              <a:solidFill>
                                <a:srgbClr val="FFFFFF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(W/m²K)</a:t>
                          </a: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C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8208.6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5489.4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4616.0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4802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Calibri" pitchFamily="34" charset="-12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Calibri" pitchFamily="34" charset="-12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sz="1100" b="1" i="1" smtClean="0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Calibri" pitchFamily="34" charset="-122"/>
                                        <a:cs typeface="Calibri" pitchFamily="34" charset="-120"/>
                                      </a:rPr>
                                      <m:t>𝒔𝒔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b="1">
                            <a:solidFill>
                              <a:srgbClr val="FFFFFF"/>
                            </a:solidFill>
                            <a:latin typeface="Aptos" panose="020B0004020202020204" pitchFamily="34" charset="0"/>
                            <a:ea typeface="Calibri" pitchFamily="34" charset="-122"/>
                            <a:cs typeface="Calibri" pitchFamily="34" charset="-12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100" b="1">
                              <a:solidFill>
                                <a:srgbClr val="FFFFFF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(s)</a:t>
                          </a:r>
                          <a:endParaRPr lang="en-US" sz="11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C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1.000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2.236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3.163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">
                <a:extLst>
                  <a:ext uri="{FF2B5EF4-FFF2-40B4-BE49-F238E27FC236}">
                    <a16:creationId xmlns:a16="http://schemas.microsoft.com/office/drawing/2014/main" id="{97D1B12B-366B-6C10-B23C-0037E32789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2750586"/>
                  </p:ext>
                </p:extLst>
              </p:nvPr>
            </p:nvGraphicFramePr>
            <p:xfrm>
              <a:off x="6789984" y="749808"/>
              <a:ext cx="2261418" cy="3099816"/>
            </p:xfrm>
            <a:graphic>
              <a:graphicData uri="http://schemas.openxmlformats.org/drawingml/2006/table">
                <a:tbl>
                  <a:tblPr/>
                  <a:tblGrid>
                    <a:gridCol w="49673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198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794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6535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48054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solidFill>
                                <a:srgbClr val="FFFFFF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L (m)</a:t>
                          </a:r>
                          <a:endParaRPr lang="en-US" sz="12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0.1</a:t>
                          </a:r>
                          <a:endParaRPr lang="en-US" sz="1200" b="1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CF6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0.5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>
                              <a:latin typeface="Aptos" panose="020B0004020202020204" pitchFamily="34" charset="0"/>
                              <a:ea typeface="Calibri" charset="0"/>
                              <a:cs typeface="Calibri" charset="0"/>
                            </a:rPr>
                            <a:t>1.0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CF6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480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65468" r="-354878" b="-202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105.24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157.36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187.13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55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163121" r="-354878" b="-992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8208.6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5489.4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4616.0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480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266906" r="-354878" b="-7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1.000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2.236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00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3.163</a:t>
                          </a:r>
                          <a:endParaRPr lang="en-US" sz="1000">
                            <a:latin typeface="Aptos" panose="020B0004020202020204" pitchFamily="34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12671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16C1A5-3577-19D4-DC58-0830017F0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2">
            <a:extLst>
              <a:ext uri="{FF2B5EF4-FFF2-40B4-BE49-F238E27FC236}">
                <a16:creationId xmlns:a16="http://schemas.microsoft.com/office/drawing/2014/main" id="{B1A74B34-D8AF-FF30-A861-AEBD70C7C8FC}"/>
              </a:ext>
            </a:extLst>
          </p:cNvPr>
          <p:cNvSpPr/>
          <p:nvPr/>
        </p:nvSpPr>
        <p:spPr>
          <a:xfrm>
            <a:off x="5133315" y="749807"/>
            <a:ext cx="3690645" cy="423865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7A600CC-48DB-7B98-BD45-D3F0FB454966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B1CF44-7E44-3DEA-CD65-6DEA7FF940D5}"/>
              </a:ext>
            </a:extLst>
          </p:cNvPr>
          <p:cNvSpPr/>
          <p:nvPr/>
        </p:nvSpPr>
        <p:spPr>
          <a:xfrm>
            <a:off x="119271" y="91440"/>
            <a:ext cx="8857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2200" b="1">
                <a:solidFill>
                  <a:schemeClr val="bg1"/>
                </a:solidFill>
                <a:latin typeface="Aptos" panose="020B0004020202020204" pitchFamily="34" charset="0"/>
              </a:rPr>
              <a:t>Part (b) - </a:t>
            </a:r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Steady-State Film Condensation</a:t>
            </a:r>
            <a:r>
              <a:rPr lang="en-US" sz="2200">
                <a:latin typeface="Aptos" panose="020B0004020202020204" pitchFamily="34" charset="0"/>
                <a:ea typeface="Palatino" pitchFamily="2" charset="77"/>
              </a:rPr>
              <a:t> </a:t>
            </a:r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with Interfacial Vapor Shear</a:t>
            </a:r>
            <a:endParaRPr lang="en-US" sz="22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317C6BD-9B7C-3C88-5540-FF8ED555EAC8}"/>
              </a:ext>
            </a:extLst>
          </p:cNvPr>
          <p:cNvSpPr/>
          <p:nvPr/>
        </p:nvSpPr>
        <p:spPr>
          <a:xfrm>
            <a:off x="274320" y="749808"/>
            <a:ext cx="4754880" cy="4238651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sz="12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Problem Overview</a:t>
            </a:r>
            <a:endParaRPr lang="en-US" sz="1200">
              <a:latin typeface="Aptos" panose="020B0004020202020204" pitchFamily="34" charset="0"/>
            </a:endParaRPr>
          </a:p>
          <a:p>
            <a:r>
              <a:rPr lang="en-US" sz="1100">
                <a:latin typeface="Aptos"/>
                <a:ea typeface="+mn-lt"/>
                <a:cs typeface="+mn-lt"/>
              </a:rPr>
              <a:t>In Part (a), vapor was stagnant. Now vapor flows</a:t>
            </a:r>
            <a:r>
              <a:rPr lang="en-US" sz="1100" b="1">
                <a:latin typeface="Aptos"/>
                <a:ea typeface="+mn-lt"/>
                <a:cs typeface="+mn-lt"/>
              </a:rPr>
              <a:t> downward</a:t>
            </a:r>
            <a:r>
              <a:rPr lang="en-US" sz="1100">
                <a:latin typeface="Aptos"/>
                <a:ea typeface="+mn-lt"/>
                <a:cs typeface="+mn-lt"/>
              </a:rPr>
              <a:t> at free-stream velocity U∞, exerting a friction force at the liquid-vapor interface called</a:t>
            </a:r>
            <a:r>
              <a:rPr lang="en-US" sz="1100" b="1">
                <a:latin typeface="Aptos"/>
                <a:ea typeface="+mn-lt"/>
                <a:cs typeface="+mn-lt"/>
              </a:rPr>
              <a:t> interfacial shear stress τᵢ.</a:t>
            </a:r>
          </a:p>
          <a:p>
            <a:pPr marL="285750" indent="-285750">
              <a:buFont typeface="Arial"/>
              <a:buChar char="•"/>
            </a:pPr>
            <a:r>
              <a:rPr lang="en-US" sz="1100">
                <a:latin typeface="Aptos"/>
                <a:ea typeface="+mn-lt"/>
                <a:cs typeface="+mn-lt"/>
              </a:rPr>
              <a:t>Shear adds a second drainage force on top of gravity → film drains faster</a:t>
            </a:r>
          </a:p>
          <a:p>
            <a:pPr marL="285750" indent="-285750">
              <a:buFont typeface="Arial"/>
              <a:buChar char="•"/>
            </a:pPr>
            <a:r>
              <a:rPr lang="en-US" sz="1100">
                <a:latin typeface="Aptos"/>
                <a:ea typeface="+mn-lt"/>
                <a:cs typeface="+mn-lt"/>
              </a:rPr>
              <a:t>Faster drainage → thinner film → lower thermal resistance → better heat transfer</a:t>
            </a:r>
          </a:p>
          <a:p>
            <a:r>
              <a:rPr lang="en-US" sz="1100" b="1">
                <a:latin typeface="Aptos"/>
                <a:ea typeface="+mn-lt"/>
                <a:cs typeface="+mn-lt"/>
              </a:rPr>
              <a:t>What we solve:</a:t>
            </a:r>
            <a:r>
              <a:rPr lang="en-US" sz="1100">
                <a:latin typeface="Aptos"/>
                <a:ea typeface="+mn-lt"/>
                <a:cs typeface="+mn-lt"/>
              </a:rPr>
              <a:t> Steady-state film thickness δ(z) under combined gravity + vapor shear, for U∞ = 1, 5, 15, 30 m/s.</a:t>
            </a:r>
          </a:p>
          <a:p>
            <a:r>
              <a:rPr lang="en-US" sz="1100" b="1">
                <a:latin typeface="Aptos"/>
                <a:ea typeface="+mn-lt"/>
                <a:cs typeface="+mn-lt"/>
              </a:rPr>
              <a:t>New boundary condition at the interface </a:t>
            </a:r>
            <a:r>
              <a:rPr lang="en-US" sz="1100">
                <a:latin typeface="Aptos"/>
                <a:ea typeface="+mn-lt"/>
                <a:cs typeface="+mn-lt"/>
              </a:rPr>
              <a:t>(replaces the zero-shear BC from Part (a)):</a:t>
            </a:r>
          </a:p>
          <a:p>
            <a:endParaRPr lang="en-US" sz="1100">
              <a:latin typeface="Aptos"/>
              <a:ea typeface="+mn-lt"/>
              <a:cs typeface="+mn-lt"/>
            </a:endParaRPr>
          </a:p>
          <a:p>
            <a:endParaRPr lang="en-US" sz="1100">
              <a:latin typeface="Aptos"/>
              <a:ea typeface="+mn-lt"/>
              <a:cs typeface="+mn-lt"/>
            </a:endParaRPr>
          </a:p>
          <a:p>
            <a:r>
              <a:rPr lang="en-US" sz="1100" b="1">
                <a:latin typeface="Aptos"/>
                <a:ea typeface="+mn-lt"/>
                <a:cs typeface="+mn-lt"/>
              </a:rPr>
              <a:t>Objective:</a:t>
            </a:r>
            <a:r>
              <a:rPr lang="en-US" sz="1100">
                <a:latin typeface="Aptos"/>
                <a:ea typeface="+mn-lt"/>
                <a:cs typeface="+mn-lt"/>
              </a:rPr>
              <a:t> Incorporate vapor shear into condensation model  and analyze effect of vapor velocity on film behavior.</a:t>
            </a:r>
            <a:endParaRPr lang="en-US" sz="1100">
              <a:latin typeface="Aptos" panose="020B0004020202020204" pitchFamily="34" charset="0"/>
            </a:endParaRPr>
          </a:p>
          <a:p>
            <a:r>
              <a:rPr lang="en-US" sz="12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Assumptions (In addition to part (a))</a:t>
            </a:r>
            <a:endParaRPr lang="en-US" sz="1200">
              <a:latin typeface="Aptos" panose="020B0004020202020204" pitchFamily="34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100" b="1">
                <a:latin typeface="Aptos"/>
                <a:ea typeface="+mn-lt"/>
                <a:cs typeface="+mn-lt"/>
              </a:rPr>
              <a:t>Steady-State:</a:t>
            </a:r>
            <a:r>
              <a:rPr lang="en-US" sz="1100">
                <a:latin typeface="Aptos"/>
                <a:ea typeface="+mn-lt"/>
                <a:cs typeface="+mn-lt"/>
              </a:rPr>
              <a:t> The film has reached its stable profile.</a:t>
            </a:r>
          </a:p>
          <a:p>
            <a:pPr marL="228600" indent="-228600">
              <a:buAutoNum type="arabicPeriod"/>
            </a:pPr>
            <a:r>
              <a:rPr lang="en-US" sz="1100" b="1">
                <a:latin typeface="Aptos"/>
                <a:ea typeface="+mn-lt"/>
                <a:cs typeface="+mn-lt"/>
              </a:rPr>
              <a:t>Downward Vapor Flow:</a:t>
            </a:r>
            <a:r>
              <a:rPr lang="en-US" sz="1100">
                <a:latin typeface="Aptos"/>
                <a:ea typeface="+mn-lt"/>
                <a:cs typeface="+mn-lt"/>
              </a:rPr>
              <a:t> At a constant velocity U</a:t>
            </a:r>
            <a:r>
              <a:rPr lang="en-US" sz="1050" b="1">
                <a:solidFill>
                  <a:srgbClr val="767676"/>
                </a:solidFill>
                <a:highlight>
                  <a:srgbClr val="FFFFFF"/>
                </a:highlight>
                <a:latin typeface="Arial"/>
                <a:ea typeface="+mn-lt"/>
                <a:cs typeface="Arial"/>
              </a:rPr>
              <a:t>∞</a:t>
            </a:r>
            <a:r>
              <a:rPr lang="en-US" sz="1100">
                <a:latin typeface="Aptos"/>
                <a:ea typeface="+mn-lt"/>
                <a:cs typeface="+mn-lt"/>
              </a:rPr>
              <a:t>.</a:t>
            </a:r>
          </a:p>
          <a:p>
            <a:pPr marL="228600" indent="-228600">
              <a:buAutoNum type="arabicPeriod"/>
            </a:pPr>
            <a:r>
              <a:rPr lang="en-US" sz="1100" b="1">
                <a:latin typeface="Aptos"/>
                <a:ea typeface="+mn-lt"/>
                <a:cs typeface="+mn-lt"/>
              </a:rPr>
              <a:t>Interfacial Shear (</a:t>
            </a:r>
            <a:r>
              <a:rPr lang="en-US" sz="1100" b="1" err="1">
                <a:latin typeface="Aptos"/>
                <a:ea typeface="+mn-lt"/>
                <a:cs typeface="+mn-lt"/>
              </a:rPr>
              <a:t>tau_i</a:t>
            </a:r>
            <a:r>
              <a:rPr lang="en-US" sz="1100" b="1">
                <a:latin typeface="Aptos"/>
                <a:ea typeface="+mn-lt"/>
                <a:cs typeface="+mn-lt"/>
              </a:rPr>
              <a:t>):</a:t>
            </a:r>
            <a:r>
              <a:rPr lang="en-US" sz="1100">
                <a:latin typeface="Aptos"/>
                <a:ea typeface="+mn-lt"/>
                <a:cs typeface="+mn-lt"/>
              </a:rPr>
              <a:t> The flowing vapor exerts a downward stress.</a:t>
            </a:r>
          </a:p>
          <a:p>
            <a:pPr marL="228600" indent="-228600">
              <a:buAutoNum type="arabicPeriod"/>
            </a:pPr>
            <a:r>
              <a:rPr lang="en-US" sz="1100" b="1">
                <a:latin typeface="Aptos"/>
                <a:ea typeface="+mn-lt"/>
                <a:cs typeface="+mn-lt"/>
              </a:rPr>
              <a:t>Laminar Boundary Layer:</a:t>
            </a:r>
            <a:r>
              <a:rPr lang="en-US" sz="1100">
                <a:latin typeface="Aptos"/>
                <a:ea typeface="+mn-lt"/>
                <a:cs typeface="+mn-lt"/>
              </a:rPr>
              <a:t> Vapor shear is calculated using the Blasius friction factor for laminar flow.</a:t>
            </a:r>
          </a:p>
          <a:p>
            <a:pPr marL="228600" indent="-228600">
              <a:buAutoNum type="arabicPeriod"/>
            </a:pPr>
            <a:r>
              <a:rPr lang="en-US" sz="1100" b="1">
                <a:latin typeface="Aptos"/>
                <a:ea typeface="+mn-lt"/>
                <a:cs typeface="+mn-lt"/>
              </a:rPr>
              <a:t>Negligible Pressure Gradient:</a:t>
            </a:r>
            <a:r>
              <a:rPr lang="en-US" sz="1100">
                <a:latin typeface="Aptos"/>
                <a:ea typeface="+mn-lt"/>
                <a:cs typeface="+mn-lt"/>
              </a:rPr>
              <a:t> Fluid motion is driven solely by gravity and interfacial shear.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351652EF-1766-A580-57B0-C01B786623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3860272"/>
                  </p:ext>
                </p:extLst>
              </p:nvPr>
            </p:nvGraphicFramePr>
            <p:xfrm>
              <a:off x="5133315" y="2860930"/>
              <a:ext cx="3690645" cy="1417320"/>
            </p:xfrm>
            <a:graphic>
              <a:graphicData uri="http://schemas.openxmlformats.org/drawingml/2006/table">
                <a:tbl>
                  <a:tblPr/>
                  <a:tblGrid>
                    <a:gridCol w="2101151">
                      <a:extLst>
                        <a:ext uri="{9D8B030D-6E8A-4147-A177-3AD203B41FA5}">
                          <a16:colId xmlns:a16="http://schemas.microsoft.com/office/drawing/2014/main" val="1857004576"/>
                        </a:ext>
                      </a:extLst>
                    </a:gridCol>
                    <a:gridCol w="1589494">
                      <a:extLst>
                        <a:ext uri="{9D8B030D-6E8A-4147-A177-3AD203B41FA5}">
                          <a16:colId xmlns:a16="http://schemas.microsoft.com/office/drawing/2014/main" val="2724314421"/>
                        </a:ext>
                      </a:extLst>
                    </a:gridCol>
                  </a:tblGrid>
                  <a:tr h="248646">
                    <a:tc>
                      <a:txBody>
                        <a:bodyPr/>
                        <a:lstStyle/>
                        <a:p>
                          <a:pPr lvl="0" algn="ctr">
                            <a:buNone/>
                          </a:pPr>
                          <a:r>
                            <a:rPr lang="en-US" sz="1200" b="1" i="0" u="none" strike="noStrike" noProof="0">
                              <a:solidFill>
                                <a:schemeClr val="bg1"/>
                              </a:solidFill>
                              <a:latin typeface="Aptos"/>
                              <a:ea typeface="Calibri"/>
                              <a:cs typeface="Calibri"/>
                            </a:rPr>
                            <a:t>Additional Fluid Properties (Vapor)</a:t>
                          </a:r>
                          <a:endParaRPr lang="en-US" sz="1200" b="1" i="0" u="none" strike="noStrike" noProof="0">
                            <a:solidFill>
                              <a:schemeClr val="bg1"/>
                            </a:solidFill>
                            <a:latin typeface="Aptos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>
                              <a:solidFill>
                                <a:schemeClr val="bg1"/>
                              </a:solidFill>
                              <a:latin typeface="Aptos"/>
                            </a:rPr>
                            <a:t>Value </a:t>
                          </a:r>
                          <a:r>
                            <a:rPr lang="en-US" sz="1200" b="1" i="0" u="none" strike="noStrike" noProof="0">
                              <a:solidFill>
                                <a:schemeClr val="bg1"/>
                              </a:solidFill>
                              <a:latin typeface="Aptos"/>
                            </a:rPr>
                            <a:t>(Evaluated at saturation conditions)</a:t>
                          </a:r>
                          <a:endParaRPr lang="en-US" sz="1200" b="1">
                            <a:solidFill>
                              <a:schemeClr val="bg1"/>
                            </a:solidFill>
                            <a:latin typeface="Aptos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983150"/>
                      </a:ext>
                    </a:extLst>
                  </a:tr>
                  <a:tr h="2348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>
                              <a:latin typeface="Aptos" panose="020B0004020202020204" pitchFamily="34" charset="0"/>
                            </a:rPr>
                            <a:t> (vapor</a:t>
                          </a:r>
                          <a:r>
                            <a:rPr lang="en-US" sz="1100" b="0" baseline="0">
                              <a:latin typeface="Aptos" panose="020B0004020202020204" pitchFamily="34" charset="0"/>
                            </a:rPr>
                            <a:t> density)</a:t>
                          </a:r>
                          <a:endParaRPr lang="en-US" sz="1100" b="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0.130 kg/m</a:t>
                          </a:r>
                          <a:r>
                            <a:rPr lang="en-US" sz="1100" baseline="30000">
                              <a:latin typeface="Aptos" panose="020B0004020202020204" pitchFamily="34" charset="0"/>
                            </a:rPr>
                            <a:t>3</a:t>
                          </a:r>
                          <a:endParaRPr lang="en-US" sz="110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9076305"/>
                      </a:ext>
                    </a:extLst>
                  </a:tr>
                  <a:tr h="2348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>
                              <a:latin typeface="Aptos" panose="020B0004020202020204" pitchFamily="34" charset="0"/>
                            </a:rPr>
                            <a:t> (vapor</a:t>
                          </a:r>
                          <a:r>
                            <a:rPr lang="en-US" sz="1100" b="0" baseline="0">
                              <a:latin typeface="Aptos" panose="020B0004020202020204" pitchFamily="34" charset="0"/>
                            </a:rPr>
                            <a:t> dynamic viscosity</a:t>
                          </a:r>
                          <a:r>
                            <a:rPr lang="en-US" sz="1100" b="0">
                              <a:latin typeface="Aptos" panose="020B0004020202020204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DFE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1.20 </a:t>
                          </a:r>
                          <a14:m>
                            <m:oMath xmlns:m="http://schemas.openxmlformats.org/officeDocument/2006/math"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 10</a:t>
                          </a:r>
                          <a:r>
                            <a:rPr lang="en-US" sz="1100" baseline="30000">
                              <a:latin typeface="Aptos" panose="020B0004020202020204" pitchFamily="34" charset="0"/>
                            </a:rPr>
                            <a:t>-5</a:t>
                          </a:r>
                          <a:r>
                            <a:rPr lang="en-US" sz="1100" baseline="0">
                              <a:latin typeface="Aptos" panose="020B0004020202020204" pitchFamily="34" charset="0"/>
                            </a:rPr>
                            <a:t> Pa-s</a:t>
                          </a:r>
                          <a:endParaRPr lang="en-US" sz="110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10158533"/>
                      </a:ext>
                    </a:extLst>
                  </a:tr>
                  <a:tr h="234832">
                    <a:tc>
                      <a:txBody>
                        <a:bodyPr/>
                        <a:lstStyle/>
                        <a:p>
                          <a:pPr lvl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b="0">
                              <a:latin typeface="Aptos" panose="020B0004020202020204" pitchFamily="34" charset="0"/>
                            </a:rPr>
                            <a:t> (Vapor kinematic viscosity)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BF5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>
                            <a:buNone/>
                          </a:pPr>
                          <a:r>
                            <a:rPr lang="en-US" sz="1100" baseline="0">
                              <a:latin typeface="Aptos" panose="020B0004020202020204" pitchFamily="34" charset="0"/>
                            </a:rPr>
                            <a:t>9.23 x </a:t>
                          </a:r>
                          <a:r>
                            <a:rPr lang="en-US" sz="1100" b="0" i="0" u="none" strike="noStrike" baseline="0" noProof="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/>
                              <a:cs typeface="Calibri"/>
                            </a:rPr>
                            <a:t>10</a:t>
                          </a:r>
                          <a:r>
                            <a:rPr lang="en-US" sz="1100" b="0" i="0" u="none" strike="noStrike" baseline="30000" noProof="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/>
                              <a:cs typeface="Calibri"/>
                            </a:rPr>
                            <a:t>-5</a:t>
                          </a:r>
                          <a:r>
                            <a:rPr lang="en-US" sz="1100" b="0" i="0" u="none" strike="noStrike" baseline="0" noProof="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/>
                              <a:cs typeface="Calibri"/>
                            </a:rPr>
                            <a:t> m</a:t>
                          </a:r>
                          <a:r>
                            <a:rPr lang="en-US" sz="1100" b="0" i="0" u="none" strike="noStrike" baseline="30000" noProof="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/>
                              <a:cs typeface="Calibri"/>
                            </a:rPr>
                            <a:t>2</a:t>
                          </a:r>
                          <a:r>
                            <a:rPr lang="en-US" sz="1100" b="0" i="0" u="none" strike="noStrike" baseline="0" noProof="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/>
                              <a:cs typeface="Calibri"/>
                            </a:rPr>
                            <a:t>/s</a:t>
                          </a:r>
                          <a:endParaRPr lang="en-US" sz="1100" b="0" i="0" u="none" strike="noStrike" baseline="30000" noProof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  <a:ea typeface="Calibri"/>
                            <a:cs typeface="Calibri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02593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351652EF-1766-A580-57B0-C01B786623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3860272"/>
                  </p:ext>
                </p:extLst>
              </p:nvPr>
            </p:nvGraphicFramePr>
            <p:xfrm>
              <a:off x="5133315" y="2860930"/>
              <a:ext cx="3690645" cy="1234440"/>
            </p:xfrm>
            <a:graphic>
              <a:graphicData uri="http://schemas.openxmlformats.org/drawingml/2006/table">
                <a:tbl>
                  <a:tblPr/>
                  <a:tblGrid>
                    <a:gridCol w="2101151">
                      <a:extLst>
                        <a:ext uri="{9D8B030D-6E8A-4147-A177-3AD203B41FA5}">
                          <a16:colId xmlns:a16="http://schemas.microsoft.com/office/drawing/2014/main" val="1857004576"/>
                        </a:ext>
                      </a:extLst>
                    </a:gridCol>
                    <a:gridCol w="1589494">
                      <a:extLst>
                        <a:ext uri="{9D8B030D-6E8A-4147-A177-3AD203B41FA5}">
                          <a16:colId xmlns:a16="http://schemas.microsoft.com/office/drawing/2014/main" val="272431442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lvl="0" algn="ctr">
                            <a:buNone/>
                          </a:pPr>
                          <a:r>
                            <a:rPr lang="en-US" sz="1200" b="1" i="0" u="none" strike="noStrike" noProof="0">
                              <a:solidFill>
                                <a:schemeClr val="bg1"/>
                              </a:solidFill>
                              <a:latin typeface="Aptos"/>
                              <a:ea typeface="Calibri"/>
                              <a:cs typeface="Calibri"/>
                            </a:rPr>
                            <a:t>Additional Fluid Properties (Vapor)</a:t>
                          </a:r>
                          <a:endParaRPr lang="en-US" sz="1200" b="1" i="0" u="none" strike="noStrike" noProof="0">
                            <a:solidFill>
                              <a:schemeClr val="bg1"/>
                            </a:solidFill>
                            <a:latin typeface="Aptos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>
                              <a:solidFill>
                                <a:schemeClr val="bg1"/>
                              </a:solidFill>
                              <a:latin typeface="Aptos"/>
                            </a:rPr>
                            <a:t>Value </a:t>
                          </a:r>
                          <a:r>
                            <a:rPr lang="en-US" sz="1200" b="1" i="0" u="none" strike="noStrike" noProof="0">
                              <a:solidFill>
                                <a:schemeClr val="bg1"/>
                              </a:solidFill>
                              <a:latin typeface="Aptos"/>
                            </a:rPr>
                            <a:t>(Evaluated at saturation conditions)</a:t>
                          </a:r>
                          <a:endParaRPr lang="en-US" sz="1200" b="1">
                            <a:solidFill>
                              <a:schemeClr val="bg1"/>
                            </a:solidFill>
                            <a:latin typeface="Aptos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A6E8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98315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0" t="-176744" r="-75942" b="-2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>
                              <a:latin typeface="Aptos" panose="020B0004020202020204" pitchFamily="34" charset="0"/>
                            </a:rPr>
                            <a:t>0.130 kg/m</a:t>
                          </a:r>
                          <a:r>
                            <a:rPr lang="en-US" sz="1100" baseline="30000">
                              <a:latin typeface="Aptos" panose="020B0004020202020204" pitchFamily="34" charset="0"/>
                            </a:rPr>
                            <a:t>3</a:t>
                          </a:r>
                          <a:endParaRPr lang="en-US" sz="1100">
                            <a:latin typeface="Aptos" panose="020B0004020202020204" pitchFamily="34" charset="0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90763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0" t="-283333" r="-75942" b="-1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2567" t="-283333" r="-383" b="-11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0158533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0" t="-374419" r="-75942" b="-16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 algn="ctr">
                            <a:buNone/>
                          </a:pPr>
                          <a:r>
                            <a:rPr lang="en-US" sz="1100" baseline="0">
                              <a:latin typeface="Aptos" panose="020B0004020202020204" pitchFamily="34" charset="0"/>
                            </a:rPr>
                            <a:t>9.23 x </a:t>
                          </a:r>
                          <a:r>
                            <a:rPr lang="en-US" sz="1100" b="0" i="0" u="none" strike="noStrike" baseline="0" noProof="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/>
                              <a:cs typeface="Calibri"/>
                            </a:rPr>
                            <a:t>10</a:t>
                          </a:r>
                          <a:r>
                            <a:rPr lang="en-US" sz="1100" b="0" i="0" u="none" strike="noStrike" baseline="30000" noProof="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/>
                              <a:cs typeface="Calibri"/>
                            </a:rPr>
                            <a:t>-5</a:t>
                          </a:r>
                          <a:r>
                            <a:rPr lang="en-US" sz="1100" b="0" i="0" u="none" strike="noStrike" baseline="0" noProof="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/>
                              <a:cs typeface="Calibri"/>
                            </a:rPr>
                            <a:t> m</a:t>
                          </a:r>
                          <a:r>
                            <a:rPr lang="en-US" sz="1100" b="0" i="0" u="none" strike="noStrike" baseline="30000" noProof="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/>
                              <a:cs typeface="Calibri"/>
                            </a:rPr>
                            <a:t>2</a:t>
                          </a:r>
                          <a:r>
                            <a:rPr lang="en-US" sz="1100" b="0" i="0" u="none" strike="noStrike" baseline="0" noProof="0">
                              <a:solidFill>
                                <a:srgbClr val="000000"/>
                              </a:solidFill>
                              <a:latin typeface="Aptos" panose="020B0004020202020204" pitchFamily="34" charset="0"/>
                              <a:ea typeface="Calibri"/>
                              <a:cs typeface="Calibri"/>
                            </a:rPr>
                            <a:t>/s</a:t>
                          </a:r>
                          <a:endParaRPr lang="en-US" sz="1100" b="0" i="0" u="none" strike="noStrike" baseline="30000" noProof="0">
                            <a:solidFill>
                              <a:srgbClr val="000000"/>
                            </a:solidFill>
                            <a:latin typeface="Aptos" panose="020B0004020202020204" pitchFamily="34" charset="0"/>
                            <a:ea typeface="Calibri"/>
                            <a:cs typeface="Calibri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BDC3C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025933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43FD1E-6F0D-364F-EE3C-470E27F69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103" y="2709425"/>
            <a:ext cx="1174082" cy="50389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Picture 5" descr="A diagram of a liquid film&#10;&#10;AI-generated content may be incorrect.">
            <a:extLst>
              <a:ext uri="{FF2B5EF4-FFF2-40B4-BE49-F238E27FC236}">
                <a16:creationId xmlns:a16="http://schemas.microsoft.com/office/drawing/2014/main" id="{324F4171-37B2-8024-45F3-A21496245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227" y="809873"/>
            <a:ext cx="1742861" cy="189955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4123AD-AE41-EFD2-D24D-718B0642232E}"/>
              </a:ext>
            </a:extLst>
          </p:cNvPr>
          <p:cNvSpPr txBox="1"/>
          <p:nvPr/>
        </p:nvSpPr>
        <p:spPr>
          <a:xfrm>
            <a:off x="5197642" y="4278250"/>
            <a:ext cx="362631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100">
                <a:latin typeface="Aptos"/>
                <a:ea typeface="+mn-lt"/>
                <a:cs typeface="+mn-lt"/>
              </a:rPr>
              <a:t>Vapor Velocities to Test: 1, 5, 15, 30 m/s</a:t>
            </a:r>
          </a:p>
          <a:p>
            <a:pPr marL="285750" indent="-285750">
              <a:buFont typeface="Arial"/>
              <a:buChar char="•"/>
            </a:pPr>
            <a:r>
              <a:rPr lang="en-US" sz="1100">
                <a:latin typeface="Aptos"/>
                <a:ea typeface="+mn-lt"/>
                <a:cs typeface="+mn-lt"/>
              </a:rPr>
              <a:t>Liquid temperature ~ 50 deg C</a:t>
            </a:r>
          </a:p>
          <a:p>
            <a:pPr marL="285750" indent="-285750">
              <a:buFont typeface="Arial"/>
              <a:buChar char="•"/>
            </a:pPr>
            <a:r>
              <a:rPr lang="en-US" sz="1100">
                <a:latin typeface="Aptos"/>
                <a:ea typeface="+mn-lt"/>
                <a:cs typeface="+mn-lt"/>
              </a:rPr>
              <a:t>Vapor temperature ~ 60 deg C</a:t>
            </a:r>
          </a:p>
        </p:txBody>
      </p:sp>
    </p:spTree>
    <p:extLst>
      <p:ext uri="{BB962C8B-B14F-4D97-AF65-F5344CB8AC3E}">
        <p14:creationId xmlns:p14="http://schemas.microsoft.com/office/powerpoint/2010/main" val="2047495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Part (b) - Derivation of Modified Steady-State ODE</a:t>
            </a:r>
          </a:p>
        </p:txBody>
      </p:sp>
      <p:sp>
        <p:nvSpPr>
          <p:cNvPr id="4" name="Shape 2"/>
          <p:cNvSpPr/>
          <p:nvPr/>
        </p:nvSpPr>
        <p:spPr>
          <a:xfrm>
            <a:off x="274320" y="796789"/>
            <a:ext cx="42062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365760" cy="365760"/>
          </a:xfrm>
          <a:prstGeom prst="ellipse">
            <a:avLst/>
          </a:prstGeom>
          <a:solidFill>
            <a:srgbClr val="0A6E8A"/>
          </a:solidFill>
          <a:ln w="12700">
            <a:solidFill>
              <a:srgbClr val="0A6E8A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</a:rPr>
              <a:t>1</a:t>
            </a:r>
            <a:endParaRPr lang="en-US" sz="12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8961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/>
              </a:rPr>
              <a:t>Step 1 — Steady State Equation</a:t>
            </a:r>
            <a:endParaRPr lang="en-US" sz="11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3931920" cy="13533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>
                <a:solidFill>
                  <a:srgbClr val="0D1F3C"/>
                </a:solidFill>
                <a:latin typeface="Aptos" panose="020B0004020202020204" pitchFamily="34" charset="0"/>
                <a:ea typeface="Palatino" pitchFamily="2" charset="77"/>
                <a:cs typeface="Calibri"/>
              </a:rPr>
              <a:t>From part (a) applying steady-state condition:</a:t>
            </a: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ea typeface="Palatino" pitchFamily="2" charset="77"/>
              <a:cs typeface="Calibri"/>
            </a:endParaRP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ea typeface="Palatino" pitchFamily="2" charset="77"/>
              <a:cs typeface="Calibri"/>
            </a:endParaRP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ea typeface="Palatino" pitchFamily="2" charset="77"/>
              <a:cs typeface="Calibri"/>
            </a:endParaRP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ea typeface="Palatino" pitchFamily="2" charset="77"/>
              <a:cs typeface="Calibri"/>
            </a:endParaRP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2062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00600" y="896112"/>
            <a:ext cx="365760" cy="365760"/>
          </a:xfrm>
          <a:prstGeom prst="ellipse">
            <a:avLst/>
          </a:prstGeom>
          <a:solidFill>
            <a:srgbClr val="0A6E8A"/>
          </a:solidFill>
          <a:ln w="12700">
            <a:solidFill>
              <a:srgbClr val="0A6E8A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0600" y="896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</a:rPr>
              <a:t>2</a:t>
            </a:r>
            <a:endParaRPr lang="en-US" sz="12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57800" y="8961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/>
              </a:rPr>
              <a:t>Step 2 — Momentum Equation</a:t>
            </a:r>
            <a:endParaRPr lang="en-US" sz="11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16242" y="1259827"/>
            <a:ext cx="3992076" cy="14285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>
                <a:solidFill>
                  <a:srgbClr val="0D1F3C"/>
                </a:solidFill>
                <a:latin typeface="Aptos" panose="020B0004020202020204" pitchFamily="34" charset="0"/>
                <a:ea typeface="+mn-lt"/>
                <a:cs typeface="+mn-lt"/>
              </a:rPr>
              <a:t>Momentum Balance and Velocity Profile with Interfacial Shear:</a:t>
            </a: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r>
              <a:rPr lang="en-US" sz="1000">
                <a:solidFill>
                  <a:srgbClr val="0D1F3C"/>
                </a:solidFill>
                <a:latin typeface="Aptos" panose="020B0004020202020204" pitchFamily="34" charset="0"/>
                <a:ea typeface="Calibri"/>
                <a:cs typeface="Calibri"/>
              </a:rPr>
              <a:t>Mass flow rate: </a:t>
            </a: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endParaRPr lang="en-US" sz="1000" b="1">
              <a:solidFill>
                <a:srgbClr val="0D1F3C"/>
              </a:solidFill>
              <a:latin typeface="Aptos" panose="020B0004020202020204" pitchFamily="34" charset="0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42062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2980944"/>
            <a:ext cx="365760" cy="365760"/>
          </a:xfrm>
          <a:prstGeom prst="ellipse">
            <a:avLst/>
          </a:prstGeom>
          <a:solidFill>
            <a:srgbClr val="0A6E8A"/>
          </a:solidFill>
          <a:ln w="12700">
            <a:solidFill>
              <a:srgbClr val="0A6E8A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2980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</a:rPr>
              <a:t>3</a:t>
            </a:r>
            <a:endParaRPr lang="en-US" sz="12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29809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Step 3 — Continuity + Energy Balance</a:t>
            </a:r>
            <a:endParaRPr lang="en-US" sz="11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1480" y="3419856"/>
            <a:ext cx="3931920" cy="13533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>
                <a:solidFill>
                  <a:srgbClr val="0D1F3C"/>
                </a:solidFill>
                <a:latin typeface="Aptos" panose="020B0004020202020204" pitchFamily="34" charset="0"/>
                <a:cs typeface="Calibri"/>
              </a:rPr>
              <a:t>Energy Balance: </a:t>
            </a: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cs typeface="Calibri"/>
            </a:endParaRP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cs typeface="Calibri"/>
            </a:endParaRPr>
          </a:p>
          <a:p>
            <a:r>
              <a:rPr lang="en-US" sz="1000">
                <a:solidFill>
                  <a:srgbClr val="0D1F3C"/>
                </a:solidFill>
                <a:latin typeface="Aptos" panose="020B0004020202020204" pitchFamily="34" charset="0"/>
                <a:cs typeface="Calibri"/>
              </a:rPr>
              <a:t>Mass conservation:</a:t>
            </a: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cs typeface="Calibri"/>
            </a:endParaRP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cs typeface="Calibri"/>
            </a:endParaRPr>
          </a:p>
          <a:p>
            <a:r>
              <a:rPr lang="en-US" sz="1000">
                <a:solidFill>
                  <a:srgbClr val="0D1F3C"/>
                </a:solidFill>
                <a:latin typeface="Aptos" panose="020B0004020202020204" pitchFamily="34" charset="0"/>
                <a:cs typeface="Calibri"/>
              </a:rPr>
              <a:t>ODE: </a:t>
            </a:r>
            <a:endParaRPr lang="en-US">
              <a:latin typeface="Aptos" panose="020B0004020202020204" pitchFamily="34" charset="0"/>
            </a:endParaRP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09160" y="2889504"/>
            <a:ext cx="42062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00600" y="2980944"/>
            <a:ext cx="365760" cy="365760"/>
          </a:xfrm>
          <a:prstGeom prst="ellipse">
            <a:avLst/>
          </a:prstGeom>
          <a:solidFill>
            <a:srgbClr val="0A6E8A"/>
          </a:solidFill>
          <a:ln w="12700">
            <a:solidFill>
              <a:srgbClr val="0A6E8A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00600" y="2980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</a:rPr>
              <a:t>4</a:t>
            </a:r>
            <a:endParaRPr lang="en-US" sz="12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57800" y="29809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Step 4 — Final ODE &amp; Shear Correlation</a:t>
            </a:r>
            <a:endParaRPr lang="en-US" sz="11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3419856"/>
            <a:ext cx="3931920" cy="13533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>
                <a:solidFill>
                  <a:srgbClr val="0D1F3C"/>
                </a:solidFill>
                <a:latin typeface="Aptos" panose="020B0004020202020204" pitchFamily="34" charset="0"/>
                <a:ea typeface="+mn-lt"/>
                <a:cs typeface="+mn-lt"/>
              </a:rPr>
              <a:t>Vapor Reynolds Number: Friction Factor (Laminar): Shear Stress:</a:t>
            </a:r>
            <a:endParaRPr lang="en-US">
              <a:solidFill>
                <a:srgbClr val="000000"/>
              </a:solidFill>
              <a:latin typeface="Aptos" panose="020B0004020202020204" pitchFamily="34" charset="0"/>
              <a:ea typeface="+mn-lt"/>
              <a:cs typeface="+mn-lt"/>
            </a:endParaRP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endParaRPr lang="en-US" sz="1000">
              <a:solidFill>
                <a:srgbClr val="0D1F3C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r>
              <a:rPr lang="en-US" sz="1000">
                <a:solidFill>
                  <a:srgbClr val="0D1F3C"/>
                </a:solidFill>
                <a:latin typeface="Aptos" panose="020B0004020202020204" pitchFamily="34" charset="0"/>
                <a:ea typeface="Calibri"/>
                <a:cs typeface="Calibri"/>
              </a:rPr>
              <a:t>Final ODE:</a:t>
            </a:r>
            <a:endParaRPr lang="en-US">
              <a:latin typeface="Aptos" panose="020B00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C1A24C0-7D58-166D-C9AB-E4575C3CF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069" y="1526758"/>
            <a:ext cx="3420980" cy="5334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7" name="Picture 26" descr="A black arrow pointing to a white rectangular object&#10;&#10;AI-generated content may be incorrect.">
            <a:extLst>
              <a:ext uri="{FF2B5EF4-FFF2-40B4-BE49-F238E27FC236}">
                <a16:creationId xmlns:a16="http://schemas.microsoft.com/office/drawing/2014/main" id="{48C2801A-955F-082F-19A4-4EE9A912B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034" y="2250405"/>
            <a:ext cx="2869532" cy="51485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3" name="Picture 32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4E07A7FE-E71A-5DE0-2BF7-7A97D7FA47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291" y="3664117"/>
            <a:ext cx="951999" cy="41709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4" name="Picture 33" descr="A math equation with a square root and square root&#10;&#10;AI-generated content may be incorrect.">
            <a:extLst>
              <a:ext uri="{FF2B5EF4-FFF2-40B4-BE49-F238E27FC236}">
                <a16:creationId xmlns:a16="http://schemas.microsoft.com/office/drawing/2014/main" id="{C85F572D-B684-5DA9-B94A-8DBC8DC969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405" y="3627270"/>
            <a:ext cx="814137" cy="45319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5" name="Picture 34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0E1CE45B-7DCE-4216-D22D-64C9326C96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9906" y="3628022"/>
            <a:ext cx="1040732" cy="43664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9" name="Picture 28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F018C36B-F84D-3CA4-7C27-4684E9D3A6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941" y="1529552"/>
            <a:ext cx="2541672" cy="527813"/>
          </a:xfrm>
          <a:prstGeom prst="rect">
            <a:avLst/>
          </a:prstGeom>
          <a:ln w="6350">
            <a:solidFill>
              <a:schemeClr val="bg1"/>
            </a:solidFill>
          </a:ln>
          <a:effectLst>
            <a:reflection endPos="0" dir="5400000" sy="-100000" algn="bl" rotWithShape="0"/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DB642F7-6795-1C05-8C01-B44311555C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941" y="2083100"/>
            <a:ext cx="2511593" cy="61635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0" name="Picture 3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1627154-53D1-8EE2-0370-829F696BB1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905" y="4195512"/>
            <a:ext cx="1674395" cy="48226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D90E161-91B3-9E07-E616-C400EF1D45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2336" y="4193508"/>
            <a:ext cx="2321093" cy="45619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42F9347-ACB5-4D8F-6526-638CA12FFC1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6563" t="18430" r="65850" b="33501"/>
          <a:stretch>
            <a:fillRect/>
          </a:stretch>
        </p:blipFill>
        <p:spPr>
          <a:xfrm>
            <a:off x="1533443" y="3323647"/>
            <a:ext cx="1153796" cy="44162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7C61AE5-BF55-C97B-1644-0747FE027C0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26392" y="2401747"/>
            <a:ext cx="196643" cy="2121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11FE1A-A75F-945F-A607-81DD2FECD34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57923" y="2397519"/>
            <a:ext cx="178871" cy="19299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19C8AC9-FD79-2606-680D-0D6754FF5FB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33607" y="3776943"/>
            <a:ext cx="872433" cy="454858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A6476-E678-3974-F7E0-0E2CB35E3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>
            <a:extLst>
              <a:ext uri="{FF2B5EF4-FFF2-40B4-BE49-F238E27FC236}">
                <a16:creationId xmlns:a16="http://schemas.microsoft.com/office/drawing/2014/main" id="{8BE4DEA6-8DF0-F066-141A-13B68E5C0056}"/>
              </a:ext>
            </a:extLst>
          </p:cNvPr>
          <p:cNvSpPr/>
          <p:nvPr/>
        </p:nvSpPr>
        <p:spPr>
          <a:xfrm>
            <a:off x="4663440" y="1463040"/>
            <a:ext cx="4206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6834B06-273E-1960-2951-7F167398BCFD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60046E-BDFA-67C5-5747-38539CD8FEEF}"/>
              </a:ext>
            </a:extLst>
          </p:cNvPr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Part (b) - Numerical Solution of the Modified ODE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0CB7E0D-E775-372F-73F9-E55DFBC05CEE}"/>
              </a:ext>
            </a:extLst>
          </p:cNvPr>
          <p:cNvSpPr/>
          <p:nvPr/>
        </p:nvSpPr>
        <p:spPr>
          <a:xfrm>
            <a:off x="274320" y="772668"/>
            <a:ext cx="8595360" cy="594360"/>
          </a:xfrm>
          <a:prstGeom prst="rect">
            <a:avLst/>
          </a:prstGeom>
          <a:solidFill>
            <a:srgbClr val="0D1F3C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8A73D3C-57F2-E5D6-DE37-CBC8990E198F}"/>
              </a:ext>
            </a:extLst>
          </p:cNvPr>
          <p:cNvSpPr/>
          <p:nvPr/>
        </p:nvSpPr>
        <p:spPr>
          <a:xfrm>
            <a:off x="274320" y="1463040"/>
            <a:ext cx="4206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B806B1B-BC9C-7352-E423-6CE01E4F57CA}"/>
              </a:ext>
            </a:extLst>
          </p:cNvPr>
          <p:cNvSpPr/>
          <p:nvPr/>
        </p:nvSpPr>
        <p:spPr>
          <a:xfrm>
            <a:off x="411480" y="1536192"/>
            <a:ext cx="39319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0A6E8A"/>
                </a:solidFill>
                <a:latin typeface="Aptos"/>
                <a:cs typeface="Calibri"/>
              </a:rPr>
              <a:t>Spatial Discretization: Forward Euler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7821A22-48B8-2A95-2CE0-942B7F5C136B}"/>
              </a:ext>
            </a:extLst>
          </p:cNvPr>
          <p:cNvSpPr/>
          <p:nvPr/>
        </p:nvSpPr>
        <p:spPr>
          <a:xfrm>
            <a:off x="4800600" y="1536192"/>
            <a:ext cx="393192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0A6E8A"/>
                </a:solidFill>
                <a:latin typeface="Aptos"/>
                <a:cs typeface="Calibri"/>
              </a:rPr>
              <a:t>Stability and Step Size (</a:t>
            </a:r>
            <a:r>
              <a:rPr lang="en-US" sz="1300" b="1" err="1">
                <a:solidFill>
                  <a:srgbClr val="0A6E8A"/>
                </a:solidFill>
                <a:latin typeface="Aptos"/>
                <a:cs typeface="Calibri"/>
              </a:rPr>
              <a:t>Δz</a:t>
            </a:r>
            <a:r>
              <a:rPr lang="en-US" sz="1300" b="1">
                <a:solidFill>
                  <a:srgbClr val="0A6E8A"/>
                </a:solidFill>
                <a:latin typeface="Aptos"/>
                <a:cs typeface="Calibri"/>
              </a:rPr>
              <a:t>)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DA5CD36-5723-230A-8B76-D57AF05A0875}"/>
              </a:ext>
            </a:extLst>
          </p:cNvPr>
          <p:cNvSpPr/>
          <p:nvPr/>
        </p:nvSpPr>
        <p:spPr>
          <a:xfrm>
            <a:off x="274320" y="3896868"/>
            <a:ext cx="8595360" cy="1013460"/>
          </a:xfrm>
          <a:prstGeom prst="rect">
            <a:avLst/>
          </a:prstGeom>
          <a:solidFill>
            <a:srgbClr val="D6EAF8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1B56B23-EB91-BD66-939C-7970A1D7667A}"/>
              </a:ext>
            </a:extLst>
          </p:cNvPr>
          <p:cNvSpPr/>
          <p:nvPr/>
        </p:nvSpPr>
        <p:spPr>
          <a:xfrm>
            <a:off x="388620" y="3942044"/>
            <a:ext cx="39319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0A6E8A"/>
                </a:solidFill>
                <a:latin typeface="Aptos"/>
                <a:ea typeface="Palatino" pitchFamily="2" charset="77"/>
                <a:cs typeface="Calibri"/>
              </a:rPr>
              <a:t>Initial Condition</a:t>
            </a:r>
            <a:endParaRPr lang="en-US" sz="13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8E7D17-D40C-B356-31A7-057E67E49437}"/>
              </a:ext>
            </a:extLst>
          </p:cNvPr>
          <p:cNvSpPr txBox="1"/>
          <p:nvPr/>
        </p:nvSpPr>
        <p:spPr>
          <a:xfrm>
            <a:off x="388620" y="1908810"/>
            <a:ext cx="3954780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100" b="1">
                <a:latin typeface="Aptos"/>
                <a:ea typeface="+mn-lt"/>
                <a:cs typeface="+mn-lt"/>
              </a:rPr>
              <a:t>Methodology</a:t>
            </a:r>
            <a:r>
              <a:rPr lang="en-US" sz="1100">
                <a:latin typeface="Aptos"/>
                <a:ea typeface="+mn-lt"/>
                <a:cs typeface="+mn-lt"/>
              </a:rPr>
              <a:t>: Since the film growth is driven by the condensation from the top downward, we step through the plate length L in the +z direction.</a:t>
            </a:r>
            <a:endParaRPr lang="en-US" sz="1100">
              <a:latin typeface="Aptos"/>
            </a:endParaRPr>
          </a:p>
          <a:p>
            <a:pPr marL="171450" indent="-171450">
              <a:buFont typeface="Arial"/>
              <a:buChar char="•"/>
            </a:pPr>
            <a:r>
              <a:rPr lang="en-US" sz="1100" b="1">
                <a:latin typeface="Aptos"/>
                <a:ea typeface="+mn-lt"/>
                <a:cs typeface="+mn-lt"/>
              </a:rPr>
              <a:t>Scheme Selection</a:t>
            </a:r>
            <a:r>
              <a:rPr lang="en-US" sz="1100">
                <a:latin typeface="Aptos"/>
                <a:ea typeface="+mn-lt"/>
                <a:cs typeface="+mn-lt"/>
              </a:rPr>
              <a:t>: A first-order Forward Euler scheme is used for simplicity and direct integration of the derived ODE.</a:t>
            </a:r>
            <a:endParaRPr lang="en-US" sz="1100">
              <a:latin typeface="Aptos"/>
            </a:endParaRPr>
          </a:p>
          <a:p>
            <a:pPr marL="171450" indent="-171450">
              <a:buFont typeface="Arial"/>
              <a:buChar char="•"/>
            </a:pPr>
            <a:r>
              <a:rPr lang="en-US" sz="1100" b="1">
                <a:latin typeface="Aptos"/>
                <a:ea typeface="+mn-lt"/>
                <a:cs typeface="+mn-lt"/>
              </a:rPr>
              <a:t>Discretized Approximation:</a:t>
            </a:r>
          </a:p>
          <a:p>
            <a:pPr marL="171450" indent="-171450">
              <a:buFont typeface="Arial"/>
              <a:buChar char="•"/>
            </a:pPr>
            <a:endParaRPr lang="en-US" sz="1100" b="1">
              <a:latin typeface="Aptos"/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100" b="1">
                <a:latin typeface="Aptos"/>
                <a:ea typeface="+mn-lt"/>
                <a:cs typeface="+mn-lt"/>
              </a:rPr>
              <a:t>Gradient Function: </a:t>
            </a:r>
          </a:p>
          <a:p>
            <a:pPr marL="171450" indent="-171450">
              <a:buFont typeface="Arial"/>
              <a:buChar char="•"/>
            </a:pPr>
            <a:endParaRPr lang="en-US" sz="1100">
              <a:latin typeface="Aptos"/>
              <a:ea typeface="Calibri"/>
              <a:cs typeface="Calibr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2516EA4-0001-47B6-687D-E14FBBCDD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225" y="2925128"/>
            <a:ext cx="1565910" cy="23812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71B314F-2B2F-E9AF-A34E-30006737E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8823" y="3175635"/>
            <a:ext cx="1903095" cy="49149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7E8A12F-5749-79C6-B7D9-9F809008CE8C}"/>
              </a:ext>
            </a:extLst>
          </p:cNvPr>
          <p:cNvSpPr txBox="1"/>
          <p:nvPr/>
        </p:nvSpPr>
        <p:spPr>
          <a:xfrm>
            <a:off x="4800600" y="1878330"/>
            <a:ext cx="3954780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100" b="1">
                <a:latin typeface="Aptos"/>
                <a:ea typeface="+mn-lt"/>
                <a:cs typeface="+mn-lt"/>
              </a:rPr>
              <a:t>Grid Independence:</a:t>
            </a:r>
            <a:r>
              <a:rPr lang="en-US" sz="1100">
                <a:latin typeface="Aptos"/>
                <a:ea typeface="+mn-lt"/>
                <a:cs typeface="+mn-lt"/>
              </a:rPr>
              <a:t> Unlike Part (A) which relies on a CFL condition for time steps, Part (B) requires grid convergence.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1100" b="1">
                <a:latin typeface="Aptos"/>
                <a:ea typeface="+mn-lt"/>
                <a:cs typeface="+mn-lt"/>
              </a:rPr>
              <a:t>Step Size Control:</a:t>
            </a:r>
            <a:r>
              <a:rPr lang="en-US" sz="1100">
                <a:latin typeface="Aptos"/>
                <a:ea typeface="+mn-lt"/>
                <a:cs typeface="+mn-lt"/>
              </a:rPr>
              <a:t> A sufficiently small </a:t>
            </a:r>
            <a:r>
              <a:rPr lang="en-US" sz="1100" err="1">
                <a:latin typeface="Aptos"/>
                <a:ea typeface="+mn-lt"/>
                <a:cs typeface="+mn-lt"/>
              </a:rPr>
              <a:t>Δz</a:t>
            </a:r>
            <a:r>
              <a:rPr lang="en-US" sz="1100">
                <a:latin typeface="Aptos"/>
                <a:ea typeface="+mn-lt"/>
                <a:cs typeface="+mn-lt"/>
              </a:rPr>
              <a:t> (L/1000) is chosen to capture the steep thickness gradient near the leading edge (z </a:t>
            </a:r>
            <a:r>
              <a:rPr lang="en-US" sz="1200">
                <a:solidFill>
                  <a:srgbClr val="0A0A0A"/>
                </a:solidFill>
                <a:highlight>
                  <a:srgbClr val="FFFFFF"/>
                </a:highlight>
                <a:ea typeface="+mn-lt"/>
                <a:cs typeface="+mn-lt"/>
              </a:rPr>
              <a:t>→</a:t>
            </a:r>
            <a:r>
              <a:rPr lang="en-US" sz="1100">
                <a:latin typeface="Aptos"/>
                <a:ea typeface="+mn-lt"/>
                <a:cs typeface="+mn-lt"/>
              </a:rPr>
              <a:t> 0).</a:t>
            </a:r>
          </a:p>
          <a:p>
            <a:pPr marL="171450" indent="-171450">
              <a:buFont typeface="Arial"/>
              <a:buChar char="•"/>
            </a:pPr>
            <a:r>
              <a:rPr lang="en-US" sz="1100" b="1">
                <a:latin typeface="Aptos"/>
                <a:ea typeface="+mn-lt"/>
                <a:cs typeface="+mn-lt"/>
              </a:rPr>
              <a:t>Convergence Metric:</a:t>
            </a:r>
            <a:r>
              <a:rPr lang="en-US" sz="1100">
                <a:ea typeface="+mn-lt"/>
                <a:cs typeface="+mn-lt"/>
              </a:rPr>
              <a:t> </a:t>
            </a:r>
            <a:r>
              <a:rPr lang="en-US" sz="1100">
                <a:latin typeface="Aptos"/>
                <a:ea typeface="+mn-lt"/>
                <a:cs typeface="+mn-lt"/>
              </a:rPr>
              <a:t>Solutions at N = 500 and N = 1000 agreed to within 0.5%, confirming the scheme is within the stable and convergent regime.</a:t>
            </a:r>
          </a:p>
          <a:p>
            <a:endParaRPr lang="en-US" sz="1100">
              <a:latin typeface="Aptos"/>
              <a:ea typeface="+mn-lt"/>
              <a:cs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CBF1D2C-B375-0DE3-B850-1F9C789DAF0F}"/>
                  </a:ext>
                </a:extLst>
              </p:cNvPr>
              <p:cNvSpPr txBox="1"/>
              <p:nvPr/>
            </p:nvSpPr>
            <p:spPr>
              <a:xfrm>
                <a:off x="411480" y="4187189"/>
                <a:ext cx="6682740" cy="60016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100">
                    <a:latin typeface="Aptos"/>
                    <a:ea typeface="+mn-lt"/>
                    <a:cs typeface="+mn-lt"/>
                  </a:rPr>
                  <a:t>Since 𝛿 = 0 at z = 0, the gradient function becomes undefined (division by zero). To bypass this, we "seed" the first node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𝑧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100">
                    <a:latin typeface="Aptos"/>
                    <a:ea typeface="+mn-lt"/>
                    <a:cs typeface="+mn-lt"/>
                  </a:rPr>
                  <a:t> using the pure-gravity Nusselt analytical solution.</a:t>
                </a:r>
              </a:p>
              <a:p>
                <a:endParaRPr lang="en-US" sz="1100"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CBF1D2C-B375-0DE3-B850-1F9C789DA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187189"/>
                <a:ext cx="6682740" cy="600164"/>
              </a:xfrm>
              <a:prstGeom prst="rect">
                <a:avLst/>
              </a:prstGeom>
              <a:blipFill>
                <a:blip r:embed="rId5"/>
                <a:stretch>
                  <a:fillRect t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65D16BD-5048-B670-9852-ED4A3159AF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1573" y="4160520"/>
            <a:ext cx="1309314" cy="4876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CBAC57-C75F-19A8-2C72-51C231E39791}"/>
                  </a:ext>
                </a:extLst>
              </p:cNvPr>
              <p:cNvSpPr txBox="1"/>
              <p:nvPr/>
            </p:nvSpPr>
            <p:spPr>
              <a:xfrm>
                <a:off x="3090597" y="824359"/>
                <a:ext cx="2720715" cy="70564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sz="1400">
                    <a:solidFill>
                      <a:srgbClr val="00B4D8"/>
                    </a:solidFill>
                    <a:latin typeface="Aptos" panose="020B0004020202020204" pitchFamily="34" charset="0"/>
                  </a:rPr>
                  <a:t>ODE: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num>
                      <m:den>
                        <m: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</a:rPr>
                          <m:t>𝒅𝒛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b="1" i="1" smtClean="0">
                                <a:solidFill>
                                  <a:srgbClr val="00B4D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𝝆</m:t>
                                </m:r>
                              </m:e>
                              <m:sub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sub>
                              <m:sup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sz="1400" b="1" i="1" smtClean="0">
                                <a:solidFill>
                                  <a:srgbClr val="00B4D8"/>
                                </a:solidFill>
                                <a:latin typeface="Cambria Math" panose="02040503050406030204" pitchFamily="18" charset="0"/>
                              </a:rPr>
                              <m:t>𝒈</m:t>
                            </m:r>
                            <m:sSup>
                              <m:sSupPr>
                                <m:ctrlP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𝜹</m:t>
                                </m:r>
                              </m:e>
                              <m:sup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400" b="1" i="1" smtClean="0">
                                <a:solidFill>
                                  <a:srgbClr val="00B4D8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sSub>
                              <m:sSubPr>
                                <m:ctrlP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sub>
                            </m:sSub>
                          </m:den>
                        </m:f>
                        <m: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400" b="1" i="1" smtClean="0">
                                <a:solidFill>
                                  <a:srgbClr val="00B4D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𝝆</m:t>
                                </m:r>
                              </m:e>
                              <m:sub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𝝉</m:t>
                                </m:r>
                              </m:e>
                              <m:sub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𝜹</m:t>
                                </m:r>
                              </m:e>
                              <m:sup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1400" b="1" i="1" smtClean="0">
                                <a:solidFill>
                                  <a:srgbClr val="00B4D8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sub>
                            </m:sSub>
                          </m:den>
                        </m:f>
                        <m:r>
                          <a:rPr lang="en-US" sz="1400" b="1" i="1" smtClean="0">
                            <a:solidFill>
                              <a:srgbClr val="00B4D8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400" b="1" i="1" smtClean="0">
                                <a:solidFill>
                                  <a:srgbClr val="00B4D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𝒍</m:t>
                                </m:r>
                              </m:sub>
                            </m:sSub>
                            <m:r>
                              <a:rPr lang="en-US" sz="1400" b="1" i="0" smtClean="0">
                                <a:solidFill>
                                  <a:srgbClr val="00B4D8"/>
                                </a:solidFill>
                                <a:latin typeface="Cambria Math" panose="02040503050406030204" pitchFamily="18" charset="0"/>
                              </a:rPr>
                              <m:t>𝚫</m:t>
                            </m:r>
                            <m:r>
                              <a:rPr lang="en-US" sz="1400" b="1" i="1" smtClean="0">
                                <a:solidFill>
                                  <a:srgbClr val="00B4D8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n-US" sz="1400" b="1" i="1" smtClean="0">
                                    <a:solidFill>
                                      <a:srgbClr val="00B4D8"/>
                                    </a:solidFill>
                                    <a:latin typeface="Cambria Math" panose="02040503050406030204" pitchFamily="18" charset="0"/>
                                  </a:rPr>
                                  <m:t>𝒇𝒈</m:t>
                                </m:r>
                              </m:sub>
                            </m:sSub>
                            <m:r>
                              <a:rPr lang="en-US" sz="1400" b="1" i="1" smtClean="0">
                                <a:solidFill>
                                  <a:srgbClr val="00B4D8"/>
                                </a:solidFill>
                                <a:latin typeface="Cambria Math" panose="02040503050406030204" pitchFamily="18" charset="0"/>
                              </a:rPr>
                              <m:t>𝜹</m:t>
                            </m:r>
                          </m:den>
                        </m:f>
                      </m:e>
                    </m:d>
                  </m:oMath>
                </a14:m>
                <a:endParaRPr lang="en-US" sz="1400" b="1">
                  <a:solidFill>
                    <a:srgbClr val="00B4D8"/>
                  </a:solidFill>
                  <a:latin typeface="Aptos" panose="020B0004020202020204" pitchFamily="34" charset="0"/>
                </a:endParaRPr>
              </a:p>
              <a:p>
                <a:r>
                  <a:rPr lang="en-US" sz="1400">
                    <a:solidFill>
                      <a:srgbClr val="00B4D8"/>
                    </a:solidFill>
                    <a:latin typeface="Aptos" panose="020B00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CBAC57-C75F-19A8-2C72-51C231E39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597" y="824359"/>
                <a:ext cx="2720715" cy="705642"/>
              </a:xfrm>
              <a:prstGeom prst="rect">
                <a:avLst/>
              </a:prstGeom>
              <a:blipFill>
                <a:blip r:embed="rId7"/>
                <a:stretch>
                  <a:fillRect l="-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425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82626" y="91440"/>
            <a:ext cx="814989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  <a:cs typeface="Calibri" pitchFamily="34" charset="-120"/>
              </a:rPr>
              <a:t>Part (b) – Simulation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435D22-3870-604B-24B6-B5DD100379CF}"/>
                  </a:ext>
                </a:extLst>
              </p:cNvPr>
              <p:cNvSpPr txBox="1"/>
              <p:nvPr/>
            </p:nvSpPr>
            <p:spPr>
              <a:xfrm>
                <a:off x="114010" y="3228292"/>
                <a:ext cx="5167013" cy="1831271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1300" b="1">
                    <a:solidFill>
                      <a:srgbClr val="0A6E8A"/>
                    </a:solidFill>
                    <a:latin typeface="Aptos"/>
                    <a:cs typeface="Calibri"/>
                  </a:rPr>
                  <a:t>Film thickness δ(z):</a:t>
                </a:r>
                <a:endParaRPr lang="en-US" sz="1100">
                  <a:solidFill>
                    <a:srgbClr val="0A6E8A"/>
                  </a:solidFill>
                  <a:latin typeface="Aptos"/>
                  <a:ea typeface="+mn-lt"/>
                  <a:cs typeface="+mn-lt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/>
                  <a:buChar char="•"/>
                </a:pPr>
                <a:r>
                  <a:rPr lang="en-US" sz="1100">
                    <a:latin typeface="Aptos"/>
                    <a:ea typeface="+mn-lt"/>
                    <a:cs typeface="+mn-lt"/>
                  </a:rPr>
                  <a:t>All shear cases fall below the Nusselt baseline, shear thins the film at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z</m:t>
                    </m:r>
                  </m:oMath>
                </a14:m>
                <a:r>
                  <a:rPr lang="en-US" sz="1100">
                    <a:latin typeface="Aptos"/>
                    <a:ea typeface="+mn-lt"/>
                    <a:cs typeface="+mn-lt"/>
                  </a:rPr>
                  <a:t>.</a:t>
                </a:r>
              </a:p>
              <a:p>
                <a:pPr marL="171450" indent="-171450" algn="just">
                  <a:buFont typeface="Arial"/>
                  <a:buChar char="•"/>
                </a:pPr>
                <a:r>
                  <a:rPr lang="en-US" sz="1100">
                    <a:latin typeface="Aptos"/>
                    <a:ea typeface="+mn-lt"/>
                    <a:cs typeface="+mn-lt"/>
                  </a:rPr>
                  <a:t>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𝑈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100">
                    <a:latin typeface="Aptos"/>
                    <a:ea typeface="+mn-lt"/>
                    <a:cs typeface="+mn-lt"/>
                  </a:rPr>
                  <a:t> (1–2 m/s): small deviation from Nusselt; gravity still dominates.</a:t>
                </a:r>
              </a:p>
              <a:p>
                <a:pPr marL="171450" indent="-171450" algn="just">
                  <a:buFont typeface="Arial"/>
                  <a:buChar char="•"/>
                </a:pPr>
                <a:r>
                  <a:rPr lang="en-US" sz="1100">
                    <a:latin typeface="Aptos"/>
                    <a:ea typeface="+mn-lt"/>
                    <a:cs typeface="+mn-lt"/>
                  </a:rPr>
                  <a:t>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𝑈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100">
                    <a:latin typeface="Aptos"/>
                    <a:ea typeface="+mn-lt"/>
                    <a:cs typeface="+mn-lt"/>
                  </a:rPr>
                  <a:t> (10–20 m/s): film dramatically thinner;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p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𝑧</m:t>
                        </m:r>
                      </m:e>
                      <m:sup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1</m:t>
                        </m:r>
                        <m:r>
                          <m:rPr>
                            <m:lit/>
                          </m:rP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/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1100">
                    <a:latin typeface="Aptos"/>
                    <a:ea typeface="+mn-lt"/>
                    <a:cs typeface="+mn-lt"/>
                  </a:rPr>
                  <a:t> profile shape starts breaking down.</a:t>
                </a:r>
              </a:p>
              <a:p>
                <a:pPr marL="171450" indent="-171450" algn="just">
                  <a:buFont typeface="Arial"/>
                  <a:buChar char="•"/>
                </a:pPr>
                <a:r>
                  <a:rPr lang="en-US" sz="1100">
                    <a:latin typeface="Aptos"/>
                    <a:ea typeface="+mn-lt"/>
                    <a:cs typeface="+mn-lt"/>
                  </a:rPr>
                  <a:t>Thinning is cumulative, a thinner film at the top stays thinner all the way down.</a:t>
                </a:r>
              </a:p>
              <a:p>
                <a:pPr marL="171450" indent="-171450" algn="just">
                  <a:buFont typeface="Arial"/>
                  <a:buChar char="•"/>
                </a:pPr>
                <a:r>
                  <a:rPr lang="en-US" sz="1100">
                    <a:latin typeface="Aptos"/>
                    <a:ea typeface="+mn-lt"/>
                    <a:cs typeface="+mn-lt"/>
                  </a:rPr>
                  <a:t>Reason: Faster vapor flow exerts greater interfacial shear on the film, accelerating drainage — the film thins until condensation and drainage once again balance.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C435D22-3870-604B-24B6-B5DD10037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10" y="3228292"/>
                <a:ext cx="5167013" cy="1831271"/>
              </a:xfrm>
              <a:prstGeom prst="rect">
                <a:avLst/>
              </a:prstGeom>
              <a:blipFill>
                <a:blip r:embed="rId3"/>
                <a:stretch>
                  <a:fillRect l="-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466061-E7FB-0072-148D-1363399E4641}"/>
                  </a:ext>
                </a:extLst>
              </p:cNvPr>
              <p:cNvSpPr txBox="1"/>
              <p:nvPr/>
            </p:nvSpPr>
            <p:spPr>
              <a:xfrm>
                <a:off x="5342730" y="3220789"/>
                <a:ext cx="3737770" cy="1831271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1300" b="1">
                    <a:solidFill>
                      <a:srgbClr val="0A6E8A"/>
                    </a:solidFill>
                    <a:latin typeface="Aptos"/>
                    <a:cs typeface="Calibri"/>
                  </a:rPr>
                  <a:t>Local Nusselt number</a:t>
                </a:r>
                <a:r>
                  <a:rPr lang="en-US" sz="1300">
                    <a:solidFill>
                      <a:srgbClr val="0A6E8A"/>
                    </a:solidFill>
                    <a:ea typeface="+mn-lt"/>
                    <a:cs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1" i="1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300" b="1" i="0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Nu</m:t>
                        </m:r>
                      </m:e>
                      <m:sub>
                        <m:r>
                          <a:rPr lang="en-US" sz="1300" b="1" i="1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𝒛</m:t>
                        </m:r>
                      </m:sub>
                    </m:sSub>
                    <m:r>
                      <a:rPr lang="en-US" sz="1300" b="1" i="1" smtClean="0">
                        <a:solidFill>
                          <a:srgbClr val="0A6E8A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=</m:t>
                    </m:r>
                    <m:sSub>
                      <m:sSubPr>
                        <m:ctrlPr>
                          <a:rPr lang="en-US" sz="1300" b="1" i="1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sz="1300" b="1" i="1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𝒌</m:t>
                        </m:r>
                      </m:e>
                      <m:sub>
                        <m:r>
                          <a:rPr lang="en-US" sz="1300" b="1" i="1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𝒍</m:t>
                        </m:r>
                      </m:sub>
                    </m:sSub>
                    <m:r>
                      <a:rPr lang="en-US" sz="1300" b="1" i="1" smtClean="0">
                        <a:solidFill>
                          <a:srgbClr val="0A6E8A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⋅</m:t>
                    </m:r>
                    <m:r>
                      <a:rPr lang="en-US" sz="1300" b="1" i="1" smtClean="0">
                        <a:solidFill>
                          <a:srgbClr val="0A6E8A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𝒛</m:t>
                    </m:r>
                    <m:r>
                      <m:rPr>
                        <m:lit/>
                      </m:rPr>
                      <a:rPr lang="en-US" sz="1300" b="1" i="1" smtClean="0">
                        <a:solidFill>
                          <a:srgbClr val="0A6E8A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d>
                      <m:dPr>
                        <m:ctrlPr>
                          <a:rPr lang="en-US" sz="1300" b="1" i="1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1" i="1" smtClean="0">
                                <a:solidFill>
                                  <a:srgbClr val="0A6E8A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</m:ctrlPr>
                          </m:sSubPr>
                          <m:e>
                            <m:r>
                              <a:rPr lang="en-US" sz="1300" b="1" i="1" smtClean="0">
                                <a:solidFill>
                                  <a:srgbClr val="0A6E8A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𝒌</m:t>
                            </m:r>
                          </m:e>
                          <m:sub>
                            <m:r>
                              <a:rPr lang="en-US" sz="1300" b="1" i="1" smtClean="0">
                                <a:solidFill>
                                  <a:srgbClr val="0A6E8A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𝒍</m:t>
                            </m:r>
                          </m:sub>
                        </m:sSub>
                        <m:r>
                          <a:rPr lang="en-US" sz="1300" b="1" i="1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𝜹</m:t>
                        </m:r>
                      </m:e>
                    </m:d>
                    <m:r>
                      <a:rPr lang="en-US" sz="1300" b="1" i="1" smtClean="0">
                        <a:solidFill>
                          <a:srgbClr val="0A6E8A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=</m:t>
                    </m:r>
                    <m:r>
                      <a:rPr lang="en-US" sz="1300" b="1" i="1" smtClean="0">
                        <a:solidFill>
                          <a:srgbClr val="0A6E8A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𝒛</m:t>
                    </m:r>
                    <m:r>
                      <m:rPr>
                        <m:lit/>
                      </m:rPr>
                      <a:rPr lang="en-US" sz="1300" b="1" i="1" smtClean="0">
                        <a:solidFill>
                          <a:srgbClr val="0A6E8A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/</m:t>
                    </m:r>
                    <m:r>
                      <a:rPr lang="en-US" sz="1300" b="1" i="1" smtClean="0">
                        <a:solidFill>
                          <a:srgbClr val="0A6E8A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𝜹</m:t>
                    </m:r>
                    <m:r>
                      <a:rPr lang="en-US" sz="1300" b="1" i="0" smtClean="0">
                        <a:solidFill>
                          <a:srgbClr val="0A6E8A"/>
                        </a:solidFill>
                        <a:latin typeface="Cambria Math" panose="02040503050406030204" pitchFamily="18" charset="0"/>
                        <a:ea typeface="+mn-lt"/>
                        <a:cs typeface="+mn-lt"/>
                      </a:rPr>
                      <m:t>:</m:t>
                    </m:r>
                  </m:oMath>
                </a14:m>
                <a:endParaRPr lang="en-US" sz="1100" b="1">
                  <a:latin typeface="Aptos"/>
                  <a:ea typeface="+mn-lt"/>
                  <a:cs typeface="+mn-lt"/>
                </a:endParaRPr>
              </a:p>
              <a:p>
                <a:pPr marL="171450" indent="-171450" algn="just">
                  <a:lnSpc>
                    <a:spcPct val="150000"/>
                  </a:lnSpc>
                  <a:buFont typeface="Arial"/>
                  <a:buChar char="•"/>
                </a:pPr>
                <a:r>
                  <a:rPr lang="en-US" sz="1100">
                    <a:latin typeface="Aptos"/>
                    <a:ea typeface="+mn-lt"/>
                    <a:cs typeface="+mn-lt"/>
                  </a:rPr>
                  <a:t>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sz="1100" i="1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𝑈</m:t>
                        </m:r>
                      </m:e>
                      <m:sub>
                        <m:r>
                          <a:rPr lang="en-US" sz="1100" i="1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100">
                    <a:latin typeface="Aptos"/>
                    <a:ea typeface="+mn-lt"/>
                    <a:cs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⇒</m:t>
                    </m:r>
                  </m:oMath>
                </a14:m>
                <a:r>
                  <a:rPr lang="en-US" sz="1100">
                    <a:latin typeface="Aptos"/>
                    <a:ea typeface="+mn-lt"/>
                    <a:cs typeface="+mn-lt"/>
                  </a:rPr>
                  <a:t> smaller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δ</m:t>
                    </m:r>
                  </m:oMath>
                </a14:m>
                <a:r>
                  <a:rPr lang="en-US" sz="1100">
                    <a:latin typeface="Aptos"/>
                    <a:ea typeface="+mn-lt"/>
                    <a:cs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  <a:ea typeface="+mn-lt"/>
                        <a:cs typeface="+mn-lt"/>
                      </a:rPr>
                      <m:t>⇒</m:t>
                    </m:r>
                  </m:oMath>
                </a14:m>
                <a:r>
                  <a:rPr lang="en-US" sz="1100">
                    <a:latin typeface="Aptos"/>
                    <a:ea typeface="+mn-lt"/>
                    <a:cs typeface="+mn-lt"/>
                  </a:rPr>
                  <a:t>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100" b="0" i="0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Nu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sz="1100">
                    <a:latin typeface="Aptos"/>
                    <a:ea typeface="+mn-lt"/>
                    <a:cs typeface="+mn-lt"/>
                  </a:rPr>
                  <a:t> at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z</m:t>
                    </m:r>
                  </m:oMath>
                </a14:m>
                <a:r>
                  <a:rPr lang="en-US" sz="1100">
                    <a:latin typeface="Aptos"/>
                    <a:ea typeface="+mn-lt"/>
                    <a:cs typeface="+mn-lt"/>
                  </a:rPr>
                  <a:t>.</a:t>
                </a:r>
              </a:p>
              <a:p>
                <a:pPr marL="171450" indent="-171450" algn="just">
                  <a:buFont typeface="Arial"/>
                  <a:buChar char="•"/>
                </a:pPr>
                <a:r>
                  <a:rPr lang="en-US" sz="1100">
                    <a:latin typeface="Aptos"/>
                    <a:ea typeface="+mn-lt"/>
                    <a:cs typeface="+mn-lt"/>
                  </a:rPr>
                  <a:t>At high U∞, </a:t>
                </a:r>
                <a:r>
                  <a:rPr lang="en-US" sz="1100" err="1">
                    <a:latin typeface="Aptos"/>
                    <a:ea typeface="+mn-lt"/>
                    <a:cs typeface="+mn-lt"/>
                  </a:rPr>
                  <a:t>Nu</a:t>
                </a:r>
                <a:r>
                  <a:rPr lang="en-US" sz="1100" baseline="-25000" err="1">
                    <a:latin typeface="Aptos"/>
                    <a:ea typeface="+mn-lt"/>
                    <a:cs typeface="+mn-lt"/>
                  </a:rPr>
                  <a:t>z</a:t>
                </a:r>
                <a:r>
                  <a:rPr lang="en-US" sz="1100" b="1" baseline="-25000">
                    <a:solidFill>
                      <a:srgbClr val="0A6E8A"/>
                    </a:solidFill>
                    <a:ea typeface="+mn-lt"/>
                    <a:cs typeface="+mn-lt"/>
                  </a:rPr>
                  <a:t> </a:t>
                </a:r>
                <a:r>
                  <a:rPr lang="en-US" sz="1100">
                    <a:latin typeface="Aptos"/>
                    <a:ea typeface="+mn-lt"/>
                    <a:cs typeface="+mn-lt"/>
                  </a:rPr>
                  <a:t>can be more than double the pure-gravity Nusselt value.</a:t>
                </a:r>
              </a:p>
              <a:p>
                <a:pPr marL="171450" indent="-171450" algn="just">
                  <a:buFont typeface="Arial"/>
                  <a:buChar char="•"/>
                </a:pPr>
                <a:r>
                  <a:rPr lang="en-US" sz="1100">
                    <a:latin typeface="Aptos"/>
                    <a:ea typeface="+mn-lt"/>
                    <a:cs typeface="+mn-lt"/>
                  </a:rPr>
                  <a:t>All curves grow with z; shear cases diverge progressively upward from baseline.</a:t>
                </a:r>
              </a:p>
              <a:p>
                <a:pPr marL="171450" indent="-171450" algn="just">
                  <a:buFont typeface="Arial"/>
                  <a:buChar char="•"/>
                </a:pPr>
                <a:r>
                  <a:rPr lang="en-US" sz="1100"/>
                  <a:t>Higher U∞ gives larger </a:t>
                </a:r>
                <a:r>
                  <a:rPr lang="en-US" sz="1100" err="1">
                    <a:latin typeface="Aptos"/>
                    <a:ea typeface="+mn-lt"/>
                    <a:cs typeface="+mn-lt"/>
                  </a:rPr>
                  <a:t>Nu</a:t>
                </a:r>
                <a:r>
                  <a:rPr lang="en-US" sz="1100" baseline="-25000" err="1">
                    <a:latin typeface="Aptos"/>
                    <a:ea typeface="+mn-lt"/>
                    <a:cs typeface="+mn-lt"/>
                  </a:rPr>
                  <a:t>z</a:t>
                </a:r>
                <a:r>
                  <a:rPr lang="en-US" sz="1100" b="1" baseline="-25000">
                    <a:solidFill>
                      <a:srgbClr val="0A6E8A"/>
                    </a:solidFill>
                    <a:ea typeface="+mn-lt"/>
                    <a:cs typeface="+mn-lt"/>
                  </a:rPr>
                  <a:t> </a:t>
                </a:r>
                <a:r>
                  <a:rPr lang="en-US" sz="1100"/>
                  <a:t>at every z because vapor shear thins the film, directly reducing the conduction resistance</a:t>
                </a:r>
                <a:r>
                  <a:rPr lang="en-US" sz="1100">
                    <a:latin typeface="Aptos"/>
                    <a:ea typeface="+mn-lt"/>
                    <a:cs typeface="+mn-lt"/>
                  </a:rPr>
                  <a:t>.</a:t>
                </a:r>
              </a:p>
              <a:p>
                <a:pPr algn="just"/>
                <a:endParaRPr lang="en-US" sz="1100">
                  <a:latin typeface="Aptos"/>
                  <a:ea typeface="+mn-lt"/>
                  <a:cs typeface="+mn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466061-E7FB-0072-148D-1363399E4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730" y="3220789"/>
                <a:ext cx="3737770" cy="18312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5BC28F65-BC4F-3399-C83B-8085FA76A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035" y="699606"/>
            <a:ext cx="6211139" cy="2445249"/>
          </a:xfrm>
          <a:prstGeom prst="rect">
            <a:avLst/>
          </a:prstGeom>
          <a:ln>
            <a:solidFill>
              <a:schemeClr val="bg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CABA49-BE25-230A-5034-F3A9A6714757}"/>
                  </a:ext>
                </a:extLst>
              </p:cNvPr>
              <p:cNvSpPr txBox="1"/>
              <p:nvPr/>
            </p:nvSpPr>
            <p:spPr>
              <a:xfrm>
                <a:off x="6380174" y="741805"/>
                <a:ext cx="2700326" cy="2346796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just">
                  <a:spcAft>
                    <a:spcPts val="1500"/>
                  </a:spcAft>
                </a:pPr>
                <a:r>
                  <a:rPr lang="en-US" sz="1300" b="1">
                    <a:solidFill>
                      <a:srgbClr val="0A6E8A"/>
                    </a:solidFill>
                    <a:latin typeface="Aptos"/>
                    <a:cs typeface="Calibri"/>
                  </a:rPr>
                  <a:t>Interfacial shear stress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1" i="1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1300" b="1" i="1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𝝉</m:t>
                        </m:r>
                      </m:e>
                      <m:sub>
                        <m:r>
                          <a:rPr lang="en-US" sz="1300" b="1" i="1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sz="1300" b="1" i="1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1300" b="1" i="1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𝒛</m:t>
                        </m:r>
                      </m:e>
                    </m:d>
                  </m:oMath>
                </a14:m>
                <a:r>
                  <a:rPr lang="en-US" sz="1300" b="1">
                    <a:solidFill>
                      <a:srgbClr val="0A6E8A"/>
                    </a:solidFill>
                    <a:latin typeface="Aptos"/>
                    <a:cs typeface="Calibri"/>
                  </a:rPr>
                  <a:t>:</a:t>
                </a:r>
                <a:endParaRPr lang="en-US" sz="1300" b="1">
                  <a:solidFill>
                    <a:srgbClr val="0A6E8A"/>
                  </a:solidFill>
                  <a:latin typeface="Aptos"/>
                  <a:ea typeface="+mn-lt"/>
                  <a:cs typeface="+mn-lt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/>
                  <a:t>At z = 0, the vapor boundary layer is just forming - extremely thin, steep velocity gradient, maximum shear. As z increases, the boundary layer thickens, the velocity gradient at the interface reduces, and τᵢ decays rapidly.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100"/>
                  <a:t>Higher U∞ shifts the entire curve upward because greater free-stream momentum means steeper velocity gradients at the film surface throughout. </a:t>
                </a:r>
                <a:br>
                  <a:rPr lang="en-US" sz="1100">
                    <a:latin typeface="Aptos"/>
                    <a:ea typeface="+mn-lt"/>
                    <a:cs typeface="+mn-lt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𝜏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𝑖</m:t>
                        </m:r>
                      </m:sub>
                    </m:sSub>
                    <m:r>
                      <a:rPr lang="en-US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n-lt"/>
                      </a:rPr>
                      <m:t>∝</m:t>
                    </m:r>
                    <m:sSubSup>
                      <m:sSubSupPr>
                        <m:ctrlPr>
                          <a:rPr 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lt"/>
                          </a:rPr>
                        </m:ctrlPr>
                      </m:sSubSup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lt"/>
                          </a:rPr>
                          <m:t>𝑈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lt"/>
                          </a:rPr>
                          <m:t>∞</m:t>
                        </m:r>
                      </m:sub>
                      <m:sup>
                        <m:r>
                          <a:rPr lang="en-US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lt"/>
                          </a:rPr>
                          <m:t>2</m:t>
                        </m:r>
                      </m:sup>
                    </m:sSubSup>
                  </m:oMath>
                </a14:m>
                <a:endParaRPr lang="en-US" sz="1100" b="0">
                  <a:latin typeface="Aptos"/>
                  <a:ea typeface="Cambria Math" panose="02040503050406030204" pitchFamily="18" charset="0"/>
                  <a:cs typeface="+mn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8CABA49-BE25-230A-5034-F3A9A6714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174" y="741805"/>
                <a:ext cx="2700326" cy="2346796"/>
              </a:xfrm>
              <a:prstGeom prst="rect">
                <a:avLst/>
              </a:prstGeom>
              <a:blipFill>
                <a:blip r:embed="rId6"/>
                <a:stretch>
                  <a:fillRect l="-225" r="-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350F96-1CA5-BD87-72D7-E07296902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7E48A9-7800-6769-8BCE-F05AE7124E2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CE473B-1765-1ACD-10DB-BE466C46B4C6}"/>
              </a:ext>
            </a:extLst>
          </p:cNvPr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Part (b) - Key Results: Vapor Velocity Effects</a:t>
            </a:r>
            <a:endParaRPr lang="en-US" sz="220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305CB2B-467C-8FC1-46E7-41C4C06983A3}"/>
              </a:ext>
            </a:extLst>
          </p:cNvPr>
          <p:cNvSpPr/>
          <p:nvPr/>
        </p:nvSpPr>
        <p:spPr>
          <a:xfrm>
            <a:off x="256032" y="749808"/>
            <a:ext cx="8631936" cy="1728216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96044B47-4E7A-DFC0-5FE9-F4AE2D770941}"/>
                  </a:ext>
                </a:extLst>
              </p:cNvPr>
              <p:cNvSpPr/>
              <p:nvPr/>
            </p:nvSpPr>
            <p:spPr>
              <a:xfrm>
                <a:off x="411480" y="822960"/>
                <a:ext cx="83210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b="1">
                    <a:solidFill>
                      <a:srgbClr val="0A6E8A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Effect of Downward Vapor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  <m:t>𝑼</m:t>
                        </m:r>
                      </m:e>
                      <m:sub>
                        <m:r>
                          <a:rPr lang="en-US" sz="1200" b="1" i="1" smtClean="0">
                            <a:solidFill>
                              <a:srgbClr val="0A6E8A"/>
                            </a:solidFill>
                            <a:latin typeface="Cambria Math" panose="02040503050406030204" pitchFamily="18" charset="0"/>
                            <a:ea typeface="Palatino" pitchFamily="2" charset="77"/>
                            <a:cs typeface="Calibri" pitchFamily="34" charset="-12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200" b="1">
                    <a:solidFill>
                      <a:srgbClr val="0A6E8A"/>
                    </a:solidFill>
                    <a:latin typeface="Aptos" panose="020B0004020202020204" pitchFamily="34" charset="0"/>
                    <a:ea typeface="Palatino" pitchFamily="2" charset="77"/>
                    <a:cs typeface="Calibri" pitchFamily="34" charset="-120"/>
                  </a:rPr>
                  <a:t> on Film Thickness and Heat Transfer</a:t>
                </a:r>
                <a:endParaRPr lang="en-US" sz="1200">
                  <a:latin typeface="Aptos" panose="020B0004020202020204" pitchFamily="34" charset="0"/>
                  <a:ea typeface="Palatino" pitchFamily="2" charset="77"/>
                </a:endParaRPr>
              </a:p>
            </p:txBody>
          </p:sp>
        </mc:Choice>
        <mc:Fallback xmlns="">
          <p:sp>
            <p:nvSpPr>
              <p:cNvPr id="5" name="Text 3">
                <a:extLst>
                  <a:ext uri="{FF2B5EF4-FFF2-40B4-BE49-F238E27FC236}">
                    <a16:creationId xmlns:a16="http://schemas.microsoft.com/office/drawing/2014/main" id="{96044B47-4E7A-DFC0-5FE9-F4AE2D7709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822960"/>
                <a:ext cx="8321040" cy="320040"/>
              </a:xfrm>
              <a:prstGeom prst="rect">
                <a:avLst/>
              </a:prstGeom>
              <a:blipFill>
                <a:blip r:embed="rId3"/>
                <a:stretch>
                  <a:fillRect l="-73" b="-754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344217DD-C471-05AD-AE3F-D1BE6626B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10392"/>
              </p:ext>
            </p:extLst>
          </p:nvPr>
        </p:nvGraphicFramePr>
        <p:xfrm>
          <a:off x="411480" y="1170432"/>
          <a:ext cx="8321040" cy="1280160"/>
        </p:xfrm>
        <a:graphic>
          <a:graphicData uri="http://schemas.openxmlformats.org/drawingml/2006/table">
            <a:tbl>
              <a:tblPr/>
              <a:tblGrid>
                <a:gridCol w="1386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6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06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U∞ [m/s]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Re_v(L)</a:t>
                      </a:r>
                      <a:endParaRPr lang="en-US" sz="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τ_i(L) [Pa]</a:t>
                      </a:r>
                      <a:endParaRPr lang="en-US" sz="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δ(L) [µm]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Δδ vs Nusselt</a:t>
                      </a:r>
                      <a:endParaRPr lang="en-US" sz="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h̄ [W/m²K] (confirm)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E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(Nusselt)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157.65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5430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5420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0.0006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157.60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−0.03%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5432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27100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0.0066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157.12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−0.34%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5489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81200</a:t>
                      </a: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0.0341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155.15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−1.58%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5685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162000</a:t>
                      </a: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0.0964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151.40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−3.96%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6020</a:t>
                      </a:r>
                      <a:endParaRPr lang="en-US" sz="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>
            <a:extLst>
              <a:ext uri="{FF2B5EF4-FFF2-40B4-BE49-F238E27FC236}">
                <a16:creationId xmlns:a16="http://schemas.microsoft.com/office/drawing/2014/main" id="{D8650F56-7DBF-BAA6-9627-FA4D24C49C34}"/>
              </a:ext>
            </a:extLst>
          </p:cNvPr>
          <p:cNvSpPr/>
          <p:nvPr/>
        </p:nvSpPr>
        <p:spPr>
          <a:xfrm>
            <a:off x="256032" y="2569464"/>
            <a:ext cx="4206240" cy="231343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Palatino" pitchFamily="2" charset="77"/>
              <a:ea typeface="Palatino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6">
                <a:extLst>
                  <a:ext uri="{FF2B5EF4-FFF2-40B4-BE49-F238E27FC236}">
                    <a16:creationId xmlns:a16="http://schemas.microsoft.com/office/drawing/2014/main" id="{45503981-36D9-FBAB-1AC1-90060DD06BF1}"/>
                  </a:ext>
                </a:extLst>
              </p:cNvPr>
              <p:cNvSpPr/>
              <p:nvPr/>
            </p:nvSpPr>
            <p:spPr>
              <a:xfrm>
                <a:off x="411480" y="2647950"/>
                <a:ext cx="3931920" cy="2212207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800" b="1" err="1">
                    <a:latin typeface="Aptos" panose="020B0004020202020204" pitchFamily="34" charset="0"/>
                  </a:rPr>
                  <a:t>δ</a:t>
                </a:r>
                <a:r>
                  <a:rPr lang="en-US" sz="800" b="1">
                    <a:latin typeface="Aptos" panose="020B0004020202020204" pitchFamily="34" charset="0"/>
                  </a:rPr>
                  <a:t>(L) decreases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sz="800" b="1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800" b="1">
                    <a:latin typeface="Aptos" panose="020B0004020202020204" pitchFamily="34" charset="0"/>
                  </a:rPr>
                  <a:t>:</a:t>
                </a:r>
                <a:r>
                  <a:rPr lang="en-US" sz="800">
                    <a:latin typeface="Aptos" panose="020B0004020202020204" pitchFamily="34" charset="0"/>
                  </a:rPr>
                  <a:t> Higher vapor velocity imposes greater interfacial shear. The film equilibrates at a smaller thickness where the now-higher drainage rate is balanced by condensation.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800">
                  <a:latin typeface="Aptos" panose="020B00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800" b="1" err="1">
                    <a:latin typeface="Aptos" panose="020B0004020202020204" pitchFamily="34" charset="0"/>
                  </a:rPr>
                  <a:t>Δδ</a:t>
                </a:r>
                <a:r>
                  <a:rPr lang="en-US" sz="800" b="1">
                    <a:latin typeface="Aptos" panose="020B0004020202020204" pitchFamily="34" charset="0"/>
                  </a:rPr>
                  <a:t> vs Nusselt is small even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sz="800" b="1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800" b="1">
                    <a:latin typeface="Aptos" panose="020B0004020202020204" pitchFamily="34" charset="0"/>
                  </a:rPr>
                  <a:t> = 30 m/s (only −3.96%):</a:t>
                </a:r>
                <a:r>
                  <a:rPr lang="en-US" sz="800">
                    <a:latin typeface="Aptos" panose="020B0004020202020204" pitchFamily="34" charset="0"/>
                  </a:rPr>
                  <a:t> Steam at 60°C has very low vapor density (</a:t>
                </a:r>
                <a:r>
                  <a:rPr lang="en-US" sz="800" err="1">
                    <a:latin typeface="Aptos" panose="020B0004020202020204" pitchFamily="34" charset="0"/>
                  </a:rPr>
                  <a:t>ρ</a:t>
                </a:r>
                <a:r>
                  <a:rPr lang="en-US" sz="800">
                    <a:latin typeface="Aptos" panose="020B0004020202020204" pitchFamily="34" charset="0"/>
                  </a:rPr>
                  <a:t>ᵥ = 0.13 kg/m³), so even at 30 m/s, the dynamic pressure ½ρᵥ</a:t>
                </a:r>
                <a:r>
                  <a:rPr lang="en-US" sz="800" b="1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800" b="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800" b="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800" b="1" i="1">
                    <a:latin typeface="Cambria Math" panose="02040503050406030204" pitchFamily="18" charset="0"/>
                  </a:rPr>
                  <a:t> </a:t>
                </a:r>
                <a:r>
                  <a:rPr lang="en-US" sz="800">
                    <a:latin typeface="Aptos" panose="020B0004020202020204" pitchFamily="34" charset="0"/>
                  </a:rPr>
                  <a:t>and therefore </a:t>
                </a:r>
                <a:r>
                  <a:rPr lang="en-US" sz="800" err="1">
                    <a:latin typeface="Aptos" panose="020B0004020202020204" pitchFamily="34" charset="0"/>
                  </a:rPr>
                  <a:t>τ</a:t>
                </a:r>
                <a:r>
                  <a:rPr lang="en-US" sz="800">
                    <a:latin typeface="Aptos" panose="020B0004020202020204" pitchFamily="34" charset="0"/>
                  </a:rPr>
                  <a:t>ᵢ remain small relative to the gravitational body force </a:t>
                </a:r>
                <a:r>
                  <a:rPr lang="en-US" sz="800" err="1">
                    <a:latin typeface="Aptos" panose="020B0004020202020204" pitchFamily="34" charset="0"/>
                  </a:rPr>
                  <a:t>ρₗgδ</a:t>
                </a:r>
                <a:r>
                  <a:rPr lang="en-US" sz="800">
                    <a:latin typeface="Aptos" panose="020B0004020202020204" pitchFamily="34" charset="0"/>
                  </a:rPr>
                  <a:t> acting on the much denser liquid film.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800">
                  <a:latin typeface="Aptos" panose="020B00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800" b="1">
                    <a:latin typeface="Aptos" panose="020B0004020202020204" pitchFamily="34" charset="0"/>
                  </a:rPr>
                  <a:t>h̄ increases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sz="800" b="1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8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800" b="1">
                    <a:latin typeface="Aptos" panose="020B0004020202020204" pitchFamily="34" charset="0"/>
                  </a:rPr>
                  <a:t>:</a:t>
                </a:r>
                <a:r>
                  <a:rPr lang="en-US" sz="800">
                    <a:latin typeface="Aptos" panose="020B0004020202020204" pitchFamily="34" charset="0"/>
                  </a:rPr>
                  <a:t> Since h̄ = kₗ/</a:t>
                </a:r>
                <a:r>
                  <a:rPr lang="en-US" sz="800" err="1">
                    <a:latin typeface="Aptos" panose="020B0004020202020204" pitchFamily="34" charset="0"/>
                  </a:rPr>
                  <a:t>δ</a:t>
                </a:r>
                <a:r>
                  <a:rPr lang="en-US" sz="800">
                    <a:latin typeface="Aptos" panose="020B0004020202020204" pitchFamily="34" charset="0"/>
                  </a:rPr>
                  <a:t>̄, any reduction in mean film thickness directly increases the average heat transfer coefficient — thinner film, lower conduction resistance.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800">
                  <a:latin typeface="Aptos" panose="020B00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800" i="1">
                    <a:latin typeface="Aptos" panose="020B0004020202020204" pitchFamily="34" charset="0"/>
                  </a:rPr>
                  <a:t>U ≈ 69.13 m/s is very high:</a:t>
                </a:r>
                <a:r>
                  <a:rPr lang="en-US" sz="800">
                    <a:latin typeface="Aptos" panose="020B0004020202020204" pitchFamily="34" charset="0"/>
                  </a:rPr>
                  <a:t>* This confirms that for low-pressure steam (low </a:t>
                </a:r>
                <a:r>
                  <a:rPr lang="en-US" sz="800" err="1">
                    <a:latin typeface="Aptos" panose="020B0004020202020204" pitchFamily="34" charset="0"/>
                  </a:rPr>
                  <a:t>ρ</a:t>
                </a:r>
                <a:r>
                  <a:rPr lang="en-US" sz="800">
                    <a:latin typeface="Aptos" panose="020B0004020202020204" pitchFamily="34" charset="0"/>
                  </a:rPr>
                  <a:t>ᵥ), vapor shear becomes dynamically comparable to gravity only at very high velocities. </a:t>
                </a:r>
                <a:endParaRPr lang="en-US" sz="800">
                  <a:solidFill>
                    <a:srgbClr val="0D1F3C"/>
                  </a:solidFill>
                  <a:latin typeface="Aptos" panose="020B0004020202020204" pitchFamily="34" charset="0"/>
                  <a:ea typeface="+mn-lt"/>
                  <a:cs typeface="+mn-lt"/>
                </a:endParaRPr>
              </a:p>
            </p:txBody>
          </p:sp>
        </mc:Choice>
        <mc:Fallback xmlns="">
          <p:sp>
            <p:nvSpPr>
              <p:cNvPr id="9" name="Text 6">
                <a:extLst>
                  <a:ext uri="{FF2B5EF4-FFF2-40B4-BE49-F238E27FC236}">
                    <a16:creationId xmlns:a16="http://schemas.microsoft.com/office/drawing/2014/main" id="{45503981-36D9-FBAB-1AC1-90060DD06B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2647950"/>
                <a:ext cx="3931920" cy="2212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7">
            <a:extLst>
              <a:ext uri="{FF2B5EF4-FFF2-40B4-BE49-F238E27FC236}">
                <a16:creationId xmlns:a16="http://schemas.microsoft.com/office/drawing/2014/main" id="{D735F354-E006-F532-F3BE-A8EE752B2F8F}"/>
              </a:ext>
            </a:extLst>
          </p:cNvPr>
          <p:cNvSpPr/>
          <p:nvPr/>
        </p:nvSpPr>
        <p:spPr>
          <a:xfrm>
            <a:off x="4663440" y="2569464"/>
            <a:ext cx="4206240" cy="231343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 lIns="91440" tIns="45720" rIns="91440" bIns="45720" anchor="t"/>
          <a:lstStyle/>
          <a:p>
            <a:endParaRPr lang="en-US" sz="1100">
              <a:latin typeface="Aptos"/>
              <a:ea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29391A59-9FBC-8D5D-CB38-F45A3F0D0C97}"/>
                  </a:ext>
                </a:extLst>
              </p:cNvPr>
              <p:cNvSpPr/>
              <p:nvPr/>
            </p:nvSpPr>
            <p:spPr>
              <a:xfrm>
                <a:off x="4800600" y="2959101"/>
                <a:ext cx="2464592" cy="179578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ctr"/>
              <a:lstStyle/>
              <a:p>
                <a:pPr>
                  <a:buSzPct val="100000"/>
                </a:pPr>
                <a:r>
                  <a:rPr lang="en-US" sz="800" b="1">
                    <a:latin typeface="Aptos"/>
                    <a:ea typeface="+mn-lt"/>
                    <a:cs typeface="+mn-lt"/>
                  </a:rPr>
                  <a:t>Criterion: </a:t>
                </a:r>
                <a:r>
                  <a:rPr lang="en-US" sz="800">
                    <a:latin typeface="Aptos"/>
                    <a:ea typeface="+mn-lt"/>
                    <a:cs typeface="+mn-lt"/>
                  </a:rPr>
                  <a:t>The ODE denominator has two competing terms. They are equal when:</a:t>
                </a:r>
              </a:p>
              <a:p>
                <a:pPr>
                  <a:buSzPct val="100000"/>
                </a:pPr>
                <a:endParaRPr lang="en-US" sz="800"/>
              </a:p>
              <a:p>
                <a:endParaRPr lang="en-US" sz="800">
                  <a:latin typeface="Aptos"/>
                  <a:ea typeface="+mn-lt"/>
                  <a:cs typeface="+mn-lt"/>
                </a:endParaRPr>
              </a:p>
              <a:p>
                <a:pPr>
                  <a:buSzPct val="100000"/>
                </a:pPr>
                <a:r>
                  <a:rPr lang="en-US" sz="800">
                    <a:latin typeface="Aptos"/>
                    <a:ea typeface="+mn-lt"/>
                    <a:cs typeface="+mn-lt"/>
                  </a:rPr>
                  <a:t>R is the </a:t>
                </a:r>
                <a:r>
                  <a:rPr lang="en-US" sz="800" b="1">
                    <a:latin typeface="Aptos"/>
                    <a:ea typeface="+mn-lt"/>
                    <a:cs typeface="+mn-lt"/>
                  </a:rPr>
                  <a:t>plate-averaged shear-to-gravity ratio</a:t>
                </a:r>
                <a:r>
                  <a:rPr lang="en-US" sz="800">
                    <a:latin typeface="Aptos"/>
                    <a:ea typeface="+mn-lt"/>
                    <a:cs typeface="+mn-lt"/>
                  </a:rPr>
                  <a:t>. U* is the velocity where R crosses 1.</a:t>
                </a:r>
              </a:p>
              <a:p>
                <a:endParaRPr lang="en-US" sz="800">
                  <a:latin typeface="Aptos"/>
                  <a:ea typeface="+mn-lt"/>
                  <a:cs typeface="+mn-lt"/>
                </a:endParaRPr>
              </a:p>
              <a:p>
                <a:pPr>
                  <a:buSzPct val="100000"/>
                </a:pPr>
                <a:r>
                  <a:rPr lang="en-US" sz="800" b="1">
                    <a:latin typeface="Aptos"/>
                    <a:ea typeface="+mn-lt"/>
                    <a:cs typeface="+mn-lt"/>
                  </a:rPr>
                  <a:t>Method:</a:t>
                </a:r>
                <a:r>
                  <a:rPr lang="en-US" sz="800">
                    <a:latin typeface="Aptos"/>
                    <a:ea typeface="+mn-lt"/>
                    <a:cs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800" b="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8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800">
                    <a:latin typeface="Aptos"/>
                    <a:ea typeface="+mn-lt"/>
                    <a:cs typeface="+mn-lt"/>
                  </a:rPr>
                  <a:t>scanned from 0.01 to 100 m/s (500 log-spaced values). Forward Euler ODE solved at each. R computed and plotted vs U∞.</a:t>
                </a:r>
              </a:p>
              <a:p>
                <a:pPr>
                  <a:buSzPct val="100000"/>
                </a:pPr>
                <a:endParaRPr lang="en-US" sz="800">
                  <a:latin typeface="Aptos"/>
                  <a:ea typeface="+mn-lt"/>
                  <a:cs typeface="+mn-lt"/>
                </a:endParaRPr>
              </a:p>
              <a:p>
                <a:r>
                  <a:rPr lang="en-US" sz="800" b="1">
                    <a:solidFill>
                      <a:srgbClr val="000000"/>
                    </a:solidFill>
                    <a:latin typeface="Aptos"/>
                    <a:cs typeface="Calibri"/>
                  </a:rPr>
                  <a:t>Result:</a:t>
                </a:r>
                <a:r>
                  <a:rPr lang="en-US" sz="800">
                    <a:solidFill>
                      <a:srgbClr val="000000"/>
                    </a:solidFill>
                    <a:latin typeface="Aptos"/>
                    <a:cs typeface="Calibri"/>
                  </a:rPr>
                  <a:t> U ≈ 69.13 m/s*</a:t>
                </a:r>
                <a:endParaRPr lang="en-US" sz="800">
                  <a:solidFill>
                    <a:srgbClr val="000000"/>
                  </a:solidFill>
                  <a:latin typeface="Aptos"/>
                  <a:ea typeface="Palatino" pitchFamily="2" charset="77"/>
                  <a:cs typeface="Calibri"/>
                </a:endParaRPr>
              </a:p>
              <a:p>
                <a:pPr marL="171450" indent="-171450"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800" b="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8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800">
                    <a:solidFill>
                      <a:srgbClr val="000000"/>
                    </a:solidFill>
                    <a:latin typeface="Aptos"/>
                    <a:ea typeface="Palatino" pitchFamily="2" charset="77"/>
                    <a:cs typeface="Calibri"/>
                  </a:rPr>
                  <a:t>&lt;&lt; U*: gravity dominates, film ≈ Nusselt solution</a:t>
                </a:r>
                <a:r>
                  <a:rPr lang="en-US" sz="800">
                    <a:ea typeface="Calibri" panose="020F0502020204030204"/>
                    <a:cs typeface="Calibri" panose="020F0502020204030204"/>
                  </a:rPr>
                  <a:t>.</a:t>
                </a:r>
                <a:endParaRPr lang="en-US" sz="800">
                  <a:solidFill>
                    <a:srgbClr val="000000"/>
                  </a:solidFill>
                  <a:latin typeface="Aptos"/>
                  <a:ea typeface="Palatino" pitchFamily="2" charset="77"/>
                  <a:cs typeface="Calibri"/>
                </a:endParaRPr>
              </a:p>
              <a:p>
                <a:pPr marL="171450" indent="-171450"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800" b="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8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800">
                    <a:solidFill>
                      <a:srgbClr val="000000"/>
                    </a:solidFill>
                    <a:latin typeface="Aptos"/>
                    <a:ea typeface="Palatino" pitchFamily="2" charset="77"/>
                    <a:cs typeface="Calibri"/>
                  </a:rPr>
                  <a:t>&gt;&gt; U*: shear dominates, film substantially thinner, heat transfer significantly enhanced.</a:t>
                </a:r>
              </a:p>
              <a:p>
                <a:pPr marL="285750" indent="-285750">
                  <a:buFont typeface="Arial"/>
                  <a:buChar char="•"/>
                </a:pPr>
                <a:endParaRPr lang="en-US" sz="800">
                  <a:solidFill>
                    <a:srgbClr val="000000"/>
                  </a:solidFill>
                  <a:latin typeface="Segoe UI"/>
                  <a:ea typeface="Palatino" pitchFamily="2" charset="77"/>
                  <a:cs typeface="Segoe UI"/>
                </a:endParaRPr>
              </a:p>
              <a:p>
                <a:pPr marL="171450" indent="-171450">
                  <a:buFont typeface="Arial"/>
                  <a:buChar char="•"/>
                </a:pPr>
                <a:endParaRPr lang="en-US" sz="800">
                  <a:solidFill>
                    <a:srgbClr val="0D1F3C"/>
                  </a:solidFill>
                  <a:latin typeface="Palatino" pitchFamily="2" charset="77"/>
                  <a:ea typeface="Palatino" pitchFamily="2" charset="77"/>
                  <a:cs typeface="Calibri"/>
                </a:endParaRPr>
              </a:p>
            </p:txBody>
          </p:sp>
        </mc:Choice>
        <mc:Fallback xmlns=""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29391A59-9FBC-8D5D-CB38-F45A3F0D0C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2959101"/>
                <a:ext cx="2464592" cy="1795780"/>
              </a:xfrm>
              <a:prstGeom prst="rect">
                <a:avLst/>
              </a:prstGeom>
              <a:blipFill>
                <a:blip r:embed="rId5"/>
                <a:stretch>
                  <a:fillRect t="-12542" b="-135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22557A3-5471-6E8E-9BDB-A182AA0D5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7648" y="2959101"/>
            <a:ext cx="985042" cy="336112"/>
          </a:xfrm>
          <a:prstGeom prst="rect">
            <a:avLst/>
          </a:prstGeom>
        </p:spPr>
      </p:pic>
      <p:pic>
        <p:nvPicPr>
          <p:cNvPr id="14" name="Picture 13" descr="A graph of a graph of a function&#10;&#10;AI-generated content may be incorrect.">
            <a:extLst>
              <a:ext uri="{FF2B5EF4-FFF2-40B4-BE49-F238E27FC236}">
                <a16:creationId xmlns:a16="http://schemas.microsoft.com/office/drawing/2014/main" id="{5B171B28-8A1A-6BAB-F46D-40FDE8C9E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9738" y="2777188"/>
            <a:ext cx="1653342" cy="18979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84E404-A25E-E11C-59BE-A26C09DF600F}"/>
              </a:ext>
            </a:extLst>
          </p:cNvPr>
          <p:cNvSpPr txBox="1"/>
          <p:nvPr/>
        </p:nvSpPr>
        <p:spPr>
          <a:xfrm>
            <a:off x="7265192" y="936633"/>
            <a:ext cx="45804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>
                <a:latin typeface="Aptos" panose="020B0004020202020204" pitchFamily="34" charset="0"/>
              </a:rPr>
              <a:t>Laminar since Re &lt; 5×10⁵</a:t>
            </a:r>
          </a:p>
        </p:txBody>
      </p:sp>
    </p:spTree>
    <p:extLst>
      <p:ext uri="{BB962C8B-B14F-4D97-AF65-F5344CB8AC3E}">
        <p14:creationId xmlns:p14="http://schemas.microsoft.com/office/powerpoint/2010/main" val="3903435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4CE3A-6C46-CCA8-545C-7CE36A6FC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46ABCF-36C7-CDE3-22EB-9F9166133BA0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2146CE-D7A1-ADCC-A304-0CD0FED94445}"/>
              </a:ext>
            </a:extLst>
          </p:cNvPr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chemeClr val="bg1"/>
                </a:solidFill>
                <a:latin typeface="Aptos" panose="020B0004020202020204" pitchFamily="34" charset="0"/>
              </a:rPr>
              <a:t>Appendix</a:t>
            </a:r>
            <a:endParaRPr lang="en-US" sz="2200">
              <a:solidFill>
                <a:schemeClr val="bg1"/>
              </a:solidFill>
              <a:latin typeface="Aptos" panose="020B0004020202020204" pitchFamily="34" charset="0"/>
              <a:ea typeface="Palatino" pitchFamily="2" charset="77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C26368-EF8B-9304-0221-C41D8FB43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696400"/>
              </p:ext>
            </p:extLst>
          </p:nvPr>
        </p:nvGraphicFramePr>
        <p:xfrm>
          <a:off x="76200" y="749807"/>
          <a:ext cx="4250268" cy="4302254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416756">
                  <a:extLst>
                    <a:ext uri="{9D8B030D-6E8A-4147-A177-3AD203B41FA5}">
                      <a16:colId xmlns:a16="http://schemas.microsoft.com/office/drawing/2014/main" val="1253271470"/>
                    </a:ext>
                  </a:extLst>
                </a:gridCol>
                <a:gridCol w="2181577">
                  <a:extLst>
                    <a:ext uri="{9D8B030D-6E8A-4147-A177-3AD203B41FA5}">
                      <a16:colId xmlns:a16="http://schemas.microsoft.com/office/drawing/2014/main" val="3568444228"/>
                    </a:ext>
                  </a:extLst>
                </a:gridCol>
                <a:gridCol w="651935">
                  <a:extLst>
                    <a:ext uri="{9D8B030D-6E8A-4147-A177-3AD203B41FA5}">
                      <a16:colId xmlns:a16="http://schemas.microsoft.com/office/drawing/2014/main" val="3334775858"/>
                    </a:ext>
                  </a:extLst>
                </a:gridCol>
              </a:tblGrid>
              <a:tr h="1713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 b="1"/>
                        <a:t>Symbol</a:t>
                      </a:r>
                      <a:endParaRPr lang="en-IN" sz="1000" b="1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 b="1"/>
                        <a:t>Meaning</a:t>
                      </a:r>
                      <a:endParaRPr lang="en-IN" sz="1000" b="1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 b="1"/>
                        <a:t>Units</a:t>
                      </a:r>
                      <a:endParaRPr lang="en-IN" sz="1000" b="1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3225013133"/>
                  </a:ext>
                </a:extLst>
              </a:tr>
              <a:tr h="1713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l-GR" sz="1000"/>
                        <a:t>δ(</a:t>
                      </a:r>
                      <a:r>
                        <a:rPr lang="en-IN" sz="1000"/>
                        <a:t>z,t)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Local film thickness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µm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3537717276"/>
                  </a:ext>
                </a:extLst>
              </a:tr>
              <a:tr h="32571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z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/>
                        <a:t>Vertical position from top of plate</a:t>
                      </a:r>
                      <a:endParaRPr lang="en-US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m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2368326373"/>
                  </a:ext>
                </a:extLst>
              </a:tr>
              <a:tr h="1713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t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Time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2863749392"/>
                  </a:ext>
                </a:extLst>
              </a:tr>
              <a:tr h="1713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L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Plate length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m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1759358483"/>
                  </a:ext>
                </a:extLst>
              </a:tr>
              <a:tr h="1713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W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lnR>
                      <a:noFill/>
                    </a:lnR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Plate width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m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64570636"/>
                  </a:ext>
                </a:extLst>
              </a:tr>
              <a:tr h="1713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l-GR" sz="1000"/>
                        <a:t>Δ</a:t>
                      </a:r>
                      <a:r>
                        <a:rPr lang="en-IN" sz="1000"/>
                        <a:t>T = Tsat − Tw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Wall subcooling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K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1553300652"/>
                  </a:ext>
                </a:extLst>
              </a:tr>
              <a:tr h="1713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Tsat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Saturation temperature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K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4134699841"/>
                  </a:ext>
                </a:extLst>
              </a:tr>
              <a:tr h="1713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Tw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Wall temperature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K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2111857155"/>
                  </a:ext>
                </a:extLst>
              </a:tr>
              <a:tr h="1713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Tf = (Tsat + Tw)/2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Film temperature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K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1914245444"/>
                  </a:ext>
                </a:extLst>
              </a:tr>
              <a:tr h="3001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l-GR" sz="1000"/>
                        <a:t>α = </a:t>
                      </a:r>
                      <a:r>
                        <a:rPr lang="en-IN" sz="1000"/>
                        <a:t>kₗ</a:t>
                      </a:r>
                      <a:r>
                        <a:rPr lang="el-GR" sz="1000"/>
                        <a:t>Δ</a:t>
                      </a:r>
                      <a:r>
                        <a:rPr lang="en-IN" sz="1000"/>
                        <a:t>T/</a:t>
                      </a:r>
                      <a:r>
                        <a:rPr lang="el-GR" sz="1000"/>
                        <a:t>ρ</a:t>
                      </a:r>
                      <a:r>
                        <a:rPr lang="en-IN" sz="1000"/>
                        <a:t>ₗhfg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Condensation coefficient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m²/s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1276515727"/>
                  </a:ext>
                </a:extLst>
              </a:tr>
              <a:tr h="1713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C(</a:t>
                      </a:r>
                      <a:r>
                        <a:rPr lang="el-GR" sz="1000"/>
                        <a:t>δ) = </a:t>
                      </a:r>
                      <a:r>
                        <a:rPr lang="en-IN" sz="1000"/>
                        <a:t>g</a:t>
                      </a:r>
                      <a:r>
                        <a:rPr lang="el-GR" sz="1000"/>
                        <a:t>δ²/ν</a:t>
                      </a:r>
                      <a:endParaRPr lang="el-GR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Kinematic wave speed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m/s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407698607"/>
                  </a:ext>
                </a:extLst>
              </a:tr>
              <a:tr h="32571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S(</a:t>
                      </a:r>
                      <a:r>
                        <a:rPr lang="el-GR" sz="1000"/>
                        <a:t>δ) = α/δ</a:t>
                      </a:r>
                      <a:endParaRPr lang="el-GR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Condensation source term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m/s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1334993165"/>
                  </a:ext>
                </a:extLst>
              </a:tr>
              <a:tr h="32571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hfg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Latent heat of vaporization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J/kg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1351002621"/>
                  </a:ext>
                </a:extLst>
              </a:tr>
              <a:tr h="32571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kₗ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Liquid thermal conductivity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W/m·K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4245370994"/>
                  </a:ext>
                </a:extLst>
              </a:tr>
              <a:tr h="1713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l-GR" sz="1000"/>
                        <a:t>ρ</a:t>
                      </a:r>
                      <a:r>
                        <a:rPr lang="en-IN" sz="1000"/>
                        <a:t>ₗ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Liquid density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kg/m³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3925697389"/>
                  </a:ext>
                </a:extLst>
              </a:tr>
              <a:tr h="1713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l-GR" sz="1000"/>
                        <a:t>ρ</a:t>
                      </a:r>
                      <a:r>
                        <a:rPr lang="en-IN" sz="1000"/>
                        <a:t>ᵥ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Vapor density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kg/m³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2446592760"/>
                  </a:ext>
                </a:extLst>
              </a:tr>
              <a:tr h="1713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l-GR" sz="1000"/>
                        <a:t>μ</a:t>
                      </a:r>
                      <a:r>
                        <a:rPr lang="en-IN" sz="1000"/>
                        <a:t>ₗ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Liquid dynamic viscosity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Pa·s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38443430"/>
                  </a:ext>
                </a:extLst>
              </a:tr>
              <a:tr h="17136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l-GR" sz="1000"/>
                        <a:t>μ</a:t>
                      </a:r>
                      <a:r>
                        <a:rPr lang="en-IN" sz="1000"/>
                        <a:t>ᵥ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Vapor dynamic viscosity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Pa·s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1160763897"/>
                  </a:ext>
                </a:extLst>
              </a:tr>
              <a:tr h="3001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l-GR" sz="1000"/>
                        <a:t>ν</a:t>
                      </a:r>
                      <a:r>
                        <a:rPr lang="en-IN" sz="1000"/>
                        <a:t>ₗ = </a:t>
                      </a:r>
                      <a:r>
                        <a:rPr lang="el-GR" sz="1000"/>
                        <a:t>μ</a:t>
                      </a:r>
                      <a:r>
                        <a:rPr lang="en-IN" sz="1000"/>
                        <a:t>ₗ/</a:t>
                      </a:r>
                      <a:r>
                        <a:rPr lang="el-GR" sz="1000"/>
                        <a:t>ρ</a:t>
                      </a:r>
                      <a:r>
                        <a:rPr lang="en-IN" sz="1000"/>
                        <a:t>ₗ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Liquid kinematic viscosity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m²/s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44743453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450089F-927C-346C-099E-D282787D6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934001"/>
              </p:ext>
            </p:extLst>
          </p:nvPr>
        </p:nvGraphicFramePr>
        <p:xfrm>
          <a:off x="4436532" y="749809"/>
          <a:ext cx="4631268" cy="4302257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543756">
                  <a:extLst>
                    <a:ext uri="{9D8B030D-6E8A-4147-A177-3AD203B41FA5}">
                      <a16:colId xmlns:a16="http://schemas.microsoft.com/office/drawing/2014/main" val="2150614497"/>
                    </a:ext>
                  </a:extLst>
                </a:gridCol>
                <a:gridCol w="2308579">
                  <a:extLst>
                    <a:ext uri="{9D8B030D-6E8A-4147-A177-3AD203B41FA5}">
                      <a16:colId xmlns:a16="http://schemas.microsoft.com/office/drawing/2014/main" val="1427222653"/>
                    </a:ext>
                  </a:extLst>
                </a:gridCol>
                <a:gridCol w="778933">
                  <a:extLst>
                    <a:ext uri="{9D8B030D-6E8A-4147-A177-3AD203B41FA5}">
                      <a16:colId xmlns:a16="http://schemas.microsoft.com/office/drawing/2014/main" val="3284101931"/>
                    </a:ext>
                  </a:extLst>
                </a:gridCol>
              </a:tblGrid>
              <a:tr h="17064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l-GR" sz="1000"/>
                        <a:t>ν</a:t>
                      </a:r>
                      <a:r>
                        <a:rPr lang="en-IN" sz="1000"/>
                        <a:t>ᵥ = </a:t>
                      </a:r>
                      <a:r>
                        <a:rPr lang="el-GR" sz="1000"/>
                        <a:t>μ</a:t>
                      </a:r>
                      <a:r>
                        <a:rPr lang="en-IN" sz="1000"/>
                        <a:t>ᵥ/</a:t>
                      </a:r>
                      <a:r>
                        <a:rPr lang="el-GR" sz="1000"/>
                        <a:t>ρ</a:t>
                      </a:r>
                      <a:r>
                        <a:rPr lang="en-IN" sz="1000"/>
                        <a:t>ᵥ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Vapor kinematic viscosity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m²/s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3753849375"/>
                  </a:ext>
                </a:extLst>
              </a:tr>
              <a:tr h="17064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g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Gravitational acceleration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m/s²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1095086135"/>
                  </a:ext>
                </a:extLst>
              </a:tr>
              <a:tr h="17182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u(y)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/>
                        <a:t>Liquid velocity at depth y</a:t>
                      </a:r>
                      <a:endParaRPr lang="en-US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m/s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1429576105"/>
                  </a:ext>
                </a:extLst>
              </a:tr>
              <a:tr h="3243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y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/>
                        <a:t>Cross-film coordinate (wall to interface)</a:t>
                      </a:r>
                      <a:endParaRPr lang="en-US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m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3792148950"/>
                  </a:ext>
                </a:extLst>
              </a:tr>
              <a:tr h="3243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l-GR" sz="1000"/>
                        <a:t>Γ</a:t>
                      </a:r>
                      <a:endParaRPr lang="el-GR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/>
                        <a:t>Film mass flow rate per unit width</a:t>
                      </a:r>
                      <a:endParaRPr lang="en-US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kg/m·s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3648315819"/>
                  </a:ext>
                </a:extLst>
              </a:tr>
              <a:tr h="17064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ṁ_cond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Condensation mass flux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kg/m²·s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3123233854"/>
                  </a:ext>
                </a:extLst>
              </a:tr>
              <a:tr h="3243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hᵤ = kₗ/</a:t>
                      </a:r>
                      <a:r>
                        <a:rPr lang="el-GR" sz="1000"/>
                        <a:t>δ</a:t>
                      </a:r>
                      <a:endParaRPr lang="el-GR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Local heat transfer coefficient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W/m²K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2301709780"/>
                  </a:ext>
                </a:extLst>
              </a:tr>
              <a:tr h="3243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h̄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Average heat transfer coefficient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W/m²K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2644328690"/>
                  </a:ext>
                </a:extLst>
              </a:tr>
              <a:tr h="17064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Nu_z = z/</a:t>
                      </a:r>
                      <a:r>
                        <a:rPr lang="el-GR" sz="1000"/>
                        <a:t>δ</a:t>
                      </a:r>
                      <a:endParaRPr lang="el-GR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Local Nusselt number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—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1679429257"/>
                  </a:ext>
                </a:extLst>
              </a:tr>
              <a:tr h="3243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tss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Steady-state establishment time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883601860"/>
                  </a:ext>
                </a:extLst>
              </a:tr>
              <a:tr h="17064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l-GR" sz="1000"/>
                        <a:t>τ</a:t>
                      </a:r>
                      <a:r>
                        <a:rPr lang="en-IN" sz="1000"/>
                        <a:t>ᵢ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Interfacial shear stress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Pa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2125565625"/>
                  </a:ext>
                </a:extLst>
              </a:tr>
              <a:tr h="17064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Cf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Blasius friction factor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—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3493358983"/>
                  </a:ext>
                </a:extLst>
              </a:tr>
              <a:tr h="17064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U∞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Vapor free-stream velocity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m/s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188474779"/>
                  </a:ext>
                </a:extLst>
              </a:tr>
              <a:tr h="3243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pl-PL" sz="1000"/>
                        <a:t>Re_v,z = U∞z/νᵥ</a:t>
                      </a:r>
                      <a:endParaRPr lang="pl-PL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Local vapor </a:t>
                      </a:r>
                      <a:r>
                        <a:rPr lang="en-IN" sz="1000" kern="1200">
                          <a:solidFill>
                            <a:schemeClr val="tx1"/>
                          </a:solidFill>
                        </a:rPr>
                        <a:t>Reynolds</a:t>
                      </a:r>
                      <a:r>
                        <a:rPr lang="en-IN" sz="1000"/>
                        <a:t> number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—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1413002220"/>
                  </a:ext>
                </a:extLst>
              </a:tr>
              <a:tr h="3243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U*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/>
                        <a:t>Critical velocity — shear equals gravity</a:t>
                      </a:r>
                      <a:endParaRPr lang="en-US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m/s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904692850"/>
                  </a:ext>
                </a:extLst>
              </a:tr>
              <a:tr h="32433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R = ⟨</a:t>
                      </a:r>
                      <a:r>
                        <a:rPr lang="el-GR" sz="1000"/>
                        <a:t>τ</a:t>
                      </a:r>
                      <a:r>
                        <a:rPr lang="en-IN" sz="1000"/>
                        <a:t>ᵢ/</a:t>
                      </a:r>
                      <a:r>
                        <a:rPr lang="el-GR" sz="1000"/>
                        <a:t>ρ</a:t>
                      </a:r>
                      <a:r>
                        <a:rPr lang="en-IN" sz="1000"/>
                        <a:t>ₗg</a:t>
                      </a:r>
                      <a:r>
                        <a:rPr lang="el-GR" sz="1000"/>
                        <a:t>δ⟩</a:t>
                      </a:r>
                      <a:endParaRPr lang="el-GR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Plate-averaged shear-to-gravity ratio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—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2133896702"/>
                  </a:ext>
                </a:extLst>
              </a:tr>
              <a:tr h="17064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Cp,l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Liquid specific heat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J/kg·K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246484013"/>
                  </a:ext>
                </a:extLst>
              </a:tr>
              <a:tr h="17064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Pr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>
                    <a:solidFill>
                      <a:srgbClr val="ECF6FB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Prandtl number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000"/>
                        <a:t>—</a:t>
                      </a:r>
                      <a:endParaRPr lang="en-IN" sz="1000">
                        <a:latin typeface="Aptos" panose="020B0004020202020204" pitchFamily="34" charset="0"/>
                      </a:endParaRPr>
                    </a:p>
                  </a:txBody>
                  <a:tcPr marL="16816" marR="16816" marT="8408" marB="8408" anchor="ctr"/>
                </a:tc>
                <a:extLst>
                  <a:ext uri="{0D108BD9-81ED-4DB2-BD59-A6C34878D82A}">
                    <a16:rowId xmlns:a16="http://schemas.microsoft.com/office/drawing/2014/main" val="789761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271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D959D-A463-D15D-2F01-51DEB6071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F1CD9E-C924-0560-D55B-8EFCDFA989D8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A2973A-6087-BB9A-58CB-21C810725C06}"/>
              </a:ext>
            </a:extLst>
          </p:cNvPr>
          <p:cNvSpPr/>
          <p:nvPr/>
        </p:nvSpPr>
        <p:spPr>
          <a:xfrm>
            <a:off x="411480" y="91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chemeClr val="bg1"/>
                </a:solidFill>
                <a:latin typeface="Aptos" panose="020B0004020202020204" pitchFamily="34" charset="0"/>
              </a:rPr>
              <a:t>Contributions</a:t>
            </a:r>
            <a:endParaRPr lang="en-US" sz="2200">
              <a:solidFill>
                <a:schemeClr val="bg1"/>
              </a:solidFill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3593867-5804-8FBF-FEB5-D9CF8132DE27}"/>
              </a:ext>
            </a:extLst>
          </p:cNvPr>
          <p:cNvSpPr/>
          <p:nvPr/>
        </p:nvSpPr>
        <p:spPr>
          <a:xfrm>
            <a:off x="274319" y="749808"/>
            <a:ext cx="8649547" cy="4238651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sz="13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Acknowledgements</a:t>
            </a:r>
          </a:p>
          <a:p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We would like to thank Prof. Soumyadip Sett for his guidance and teaching. </a:t>
            </a:r>
          </a:p>
          <a:p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We would also like to thank </a:t>
            </a:r>
            <a:r>
              <a:rPr lang="en-US" sz="1150" err="1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Mondeep</a:t>
            </a:r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 Gohain for always providing us timely answers to our queries and helping us through this project.</a:t>
            </a:r>
          </a:p>
          <a:p>
            <a:endParaRPr lang="en-US" sz="500">
              <a:latin typeface="Aptos" panose="020B0004020202020204" pitchFamily="34" charset="0"/>
              <a:ea typeface="Palatino" pitchFamily="2" charset="77"/>
              <a:cs typeface="Calibri" pitchFamily="34" charset="-120"/>
            </a:endParaRPr>
          </a:p>
          <a:p>
            <a:r>
              <a:rPr lang="en-US" sz="13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Contributions</a:t>
            </a:r>
            <a:endParaRPr lang="en-US" sz="1300">
              <a:latin typeface="Aptos" panose="020B0004020202020204" pitchFamily="34" charset="0"/>
              <a:ea typeface="Palatino" pitchFamily="2" charset="77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Shrishti Mishra –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Derivation of governing PDE for Part (a) momentum equation, mass balance, energy balance, final PDE formulation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Nusselt analytical steady-state solution derivation and validation baseline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Validation of numerical results against Nusselt analytical solution and error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 Hari Balaji –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Numerical scheme design for Part (a) FTBS upwind discretization, implicit source treatment, CFL stability condition, IC and BC implementation,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Code development and simulation execution for Part (a)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Parametric study: effect of </a:t>
            </a:r>
            <a:r>
              <a:rPr lang="el-GR" sz="1150"/>
              <a:t>Δ</a:t>
            </a:r>
            <a:r>
              <a:rPr lang="en-IN" sz="1150"/>
              <a:t>T and</a:t>
            </a:r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 L on film thickness, HTC, and </a:t>
            </a:r>
            <a:r>
              <a:rPr lang="en-US" sz="1150" err="1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tss</a:t>
            </a:r>
            <a:endParaRPr lang="en-US" sz="1150">
              <a:latin typeface="Aptos" panose="020B0004020202020204" pitchFamily="34" charset="0"/>
              <a:ea typeface="Palatino" pitchFamily="2" charset="77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Diya Mehta –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Derivation of modified steady-state ODE for Part (b) momentum equation with interfacial shear BC, mass flow rate.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Blasius shear stress model implementation, </a:t>
            </a:r>
            <a:r>
              <a:rPr lang="el-GR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τ</a:t>
            </a:r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ᵢ(z) computation and Forward Euler numerical solution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5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Critical velocity U* analysis, and results and discussion for Part (b)</a:t>
            </a:r>
          </a:p>
          <a:p>
            <a:endParaRPr lang="en-US" sz="500">
              <a:latin typeface="Aptos" panose="020B0004020202020204" pitchFamily="34" charset="0"/>
              <a:ea typeface="Palatino" pitchFamily="2" charset="77"/>
              <a:cs typeface="Calibri" pitchFamily="34" charset="-120"/>
            </a:endParaRPr>
          </a:p>
          <a:p>
            <a:r>
              <a:rPr lang="en-US" sz="1400"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 </a:t>
            </a:r>
            <a:r>
              <a:rPr lang="en-US" sz="1300" b="1">
                <a:solidFill>
                  <a:srgbClr val="0A6E8A"/>
                </a:solidFill>
                <a:latin typeface="Aptos" panose="020B0004020202020204" pitchFamily="34" charset="0"/>
                <a:ea typeface="Palatino" pitchFamily="2" charset="77"/>
                <a:cs typeface="Calibri" pitchFamily="34" charset="-120"/>
              </a:rPr>
              <a:t>References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150"/>
              <a:t>P. M. Chung, "Unsteady laminar film condensation on vertical plate," </a:t>
            </a:r>
            <a:r>
              <a:rPr lang="en-IN" sz="1150" i="1"/>
              <a:t>Journal of Heat Transfer</a:t>
            </a:r>
            <a:r>
              <a:rPr lang="en-IN" sz="1150"/>
              <a:t>, vol. 85, no. 1, pp. 63–70, Feb. 1963.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150"/>
              <a:t>E. M. Sparrow and R. Siegel, "Transient film condensation," </a:t>
            </a:r>
            <a:r>
              <a:rPr lang="en-IN" sz="1150" i="1"/>
              <a:t>Journal of Applied Mechanics</a:t>
            </a:r>
            <a:r>
              <a:rPr lang="en-IN" sz="1150"/>
              <a:t>, vol. 26, no. 1, pp. 120–121, Mar. 1959.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en-US" sz="1150">
                <a:latin typeface="Aptos" panose="020B0004020202020204" pitchFamily="34" charset="0"/>
              </a:rPr>
              <a:t>V. P. Carey, </a:t>
            </a:r>
            <a:r>
              <a:rPr lang="en-US" altLang="en-US" sz="1150" i="1">
                <a:latin typeface="Aptos" panose="020B0004020202020204" pitchFamily="34" charset="0"/>
              </a:rPr>
              <a:t>Liquid-Vapor Phase-Change Phenomena: An Introduction to the </a:t>
            </a:r>
            <a:r>
              <a:rPr lang="en-US" altLang="en-US" sz="1150" i="1" err="1">
                <a:latin typeface="Aptos" panose="020B0004020202020204" pitchFamily="34" charset="0"/>
              </a:rPr>
              <a:t>Thermophysics</a:t>
            </a:r>
            <a:r>
              <a:rPr lang="en-US" altLang="en-US" sz="1150" i="1">
                <a:latin typeface="Aptos" panose="020B0004020202020204" pitchFamily="34" charset="0"/>
              </a:rPr>
              <a:t> of Vaporization and Condensation Processes in Heat Transfer Equipment</a:t>
            </a:r>
            <a:r>
              <a:rPr lang="en-US" altLang="en-US" sz="1150">
                <a:latin typeface="Aptos" panose="020B0004020202020204" pitchFamily="34" charset="0"/>
              </a:rPr>
              <a:t>, 2nd ed. New York, NY, USA: Taylor &amp; Francis, 2008.</a:t>
            </a:r>
          </a:p>
          <a:p>
            <a:pPr marL="228600" indent="-228600">
              <a:buFont typeface="+mj-lt"/>
              <a:buAutoNum type="arabicPeriod"/>
            </a:pPr>
            <a:endParaRPr lang="en-IN" sz="1200"/>
          </a:p>
          <a:p>
            <a:pPr marL="228600" indent="-228600">
              <a:buFont typeface="+mj-lt"/>
              <a:buAutoNum type="arabicPeriod"/>
            </a:pPr>
            <a:endParaRPr lang="en-IN" sz="1200"/>
          </a:p>
          <a:p>
            <a:pPr marL="228600" indent="-228600">
              <a:buFont typeface="+mj-lt"/>
              <a:buAutoNum type="arabicPeriod"/>
            </a:pPr>
            <a:endParaRPr lang="en-US" sz="1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425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3331</Words>
  <Application>Microsoft Macintosh PowerPoint</Application>
  <PresentationFormat>On-screen Show (16:9)</PresentationFormat>
  <Paragraphs>472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Cambria Math</vt:lpstr>
      <vt:lpstr>Palatino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Transient Filmwise Condensation</dc:title>
  <dc:subject>PptxGenJS Presentation</dc:subject>
  <dc:creator>PptxGenJS</dc:creator>
  <cp:lastModifiedBy>Hari Balaji</cp:lastModifiedBy>
  <cp:revision>2</cp:revision>
  <dcterms:created xsi:type="dcterms:W3CDTF">2026-04-21T18:21:32Z</dcterms:created>
  <dcterms:modified xsi:type="dcterms:W3CDTF">2026-05-25T06:26:12Z</dcterms:modified>
</cp:coreProperties>
</file>